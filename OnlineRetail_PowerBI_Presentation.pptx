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notesMasters/notesMaster1.xml" ContentType="application/vnd.openxmlformats-officedocument.presentationml.notesMaster+xml"/>
  <Override PartName="/ppt/tags/tag1.xml" ContentType="application/vnd.openxmlformats-officedocument.presentationml.tag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tags/tag2.xml" ContentType="application/vnd.openxmlformats-officedocument.presentationml.tags+xml"/>
  <Override PartName="/ppt/tags/tag3.xml" ContentType="application/vnd.openxmlformats-officedocument.presentationml.tags+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tags/tag4.xml" ContentType="application/vnd.openxmlformats-officedocument.presentationml.tags+xml"/>
  <Override PartName="/ppt/notesSlides/notesSlide1.xml" ContentType="application/vnd.openxmlformats-officedocument.presentationml.notesSlide+xml"/>
  <Override PartName="/ppt/tags/tag5.xml" ContentType="application/vnd.openxmlformats-officedocument.presentationml.tags+xml"/>
  <Override PartName="/ppt/notesSlides/notesSlide2.xml" ContentType="application/vnd.openxmlformats-officedocument.presentationml.notesSlide+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50" r:id="rId1"/>
    <p:sldMasterId id="2147483652" r:id="rId2"/>
  </p:sldMasterIdLst>
  <p:notesMasterIdLst>
    <p:notesMasterId r:id="rId14"/>
  </p:notesMasterIdLst>
  <p:sldIdLst>
    <p:sldId id="256" r:id="rId3"/>
    <p:sldId id="571" r:id="rId4"/>
    <p:sldId id="572" r:id="rId5"/>
    <p:sldId id="573" r:id="rId6"/>
    <p:sldId id="574" r:id="rId7"/>
    <p:sldId id="575" r:id="rId8"/>
    <p:sldId id="576" r:id="rId9"/>
    <p:sldId id="577" r:id="rId10"/>
    <p:sldId id="579" r:id="rId11"/>
    <p:sldId id="578" r:id="rId12"/>
    <p:sldId id="536" r:id="rId13"/>
  </p:sldIdLst>
  <p:sldSz cx="12192000" cy="6858000"/>
  <p:notesSz cx="6858000" cy="9144000"/>
  <p:custDataLst>
    <p:tags r:id="rId15"/>
  </p:custData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672" userDrawn="1">
          <p15:clr>
            <a:srgbClr val="A4A3A4"/>
          </p15:clr>
        </p15:guide>
        <p15:guide id="2" pos="312" userDrawn="1">
          <p15:clr>
            <a:srgbClr val="A4A3A4"/>
          </p15:clr>
        </p15:guide>
        <p15:guide id="3" orient="horz" pos="912" userDrawn="1">
          <p15:clr>
            <a:srgbClr val="A4A3A4"/>
          </p15:clr>
        </p15:guide>
      </p15:sldGuideLst>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C4B9636B-3D94-EB3D-7CF5-3935240F8C9F}" name="Ramar Bose" initials="RB" userId="S::ramar@edunetfoundation.org::ae727035-80f4-46a2-9b41-59f778a1b49a" providerId="AD"/>
  <p188:author id="{D0A8B7BB-36D1-777B-64C8-9A30C894A727}" name="Rashmi Mishra" initials="RM" userId="S::rmishra@edunetfoundation.org::6469e6c3-66fa-4f4f-9c10-a71ac4161bf2"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34A751"/>
    <a:srgbClr val="263570"/>
    <a:srgbClr val="4A9DE2"/>
    <a:srgbClr val="88BFEC"/>
    <a:srgbClr val="F9B1B1"/>
    <a:srgbClr val="B2DE82"/>
    <a:srgbClr val="F57373"/>
    <a:srgbClr val="F03434"/>
    <a:srgbClr val="BC7D00"/>
    <a:srgbClr val="FFBC37"/>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20"/>
    <p:restoredTop sz="73818" autoAdjust="0"/>
  </p:normalViewPr>
  <p:slideViewPr>
    <p:cSldViewPr snapToGrid="0">
      <p:cViewPr varScale="1">
        <p:scale>
          <a:sx n="89" d="100"/>
          <a:sy n="89" d="100"/>
        </p:scale>
        <p:origin x="437" y="72"/>
      </p:cViewPr>
      <p:guideLst>
        <p:guide orient="horz" pos="672"/>
        <p:guide pos="312"/>
        <p:guide orient="horz" pos="912"/>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6.xml"/><Relationship Id="rId13" Type="http://schemas.openxmlformats.org/officeDocument/2006/relationships/slide" Target="slides/slide11.xml"/><Relationship Id="rId18" Type="http://schemas.openxmlformats.org/officeDocument/2006/relationships/theme" Target="theme/theme1.xml"/><Relationship Id="rId3" Type="http://schemas.openxmlformats.org/officeDocument/2006/relationships/slide" Target="slides/slide1.xml"/><Relationship Id="rId7" Type="http://schemas.openxmlformats.org/officeDocument/2006/relationships/slide" Target="slides/slide5.xml"/><Relationship Id="rId12" Type="http://schemas.openxmlformats.org/officeDocument/2006/relationships/slide" Target="slides/slide10.xml"/><Relationship Id="rId17" Type="http://schemas.openxmlformats.org/officeDocument/2006/relationships/viewProps" Target="viewProps.xml"/><Relationship Id="rId2" Type="http://schemas.openxmlformats.org/officeDocument/2006/relationships/slideMaster" Target="slideMasters/slideMaster2.xml"/><Relationship Id="rId16" Type="http://schemas.openxmlformats.org/officeDocument/2006/relationships/presProps" Target="presProps.xml"/><Relationship Id="rId20" Type="http://schemas.microsoft.com/office/2018/10/relationships/authors" Target="authors.xml"/><Relationship Id="rId1" Type="http://schemas.openxmlformats.org/officeDocument/2006/relationships/slideMaster" Target="slideMasters/slideMaster1.xml"/><Relationship Id="rId6" Type="http://schemas.openxmlformats.org/officeDocument/2006/relationships/slide" Target="slides/slide4.xml"/><Relationship Id="rId11" Type="http://schemas.openxmlformats.org/officeDocument/2006/relationships/slide" Target="slides/slide9.xml"/><Relationship Id="rId5" Type="http://schemas.openxmlformats.org/officeDocument/2006/relationships/slide" Target="slides/slide3.xml"/><Relationship Id="rId15" Type="http://schemas.openxmlformats.org/officeDocument/2006/relationships/tags" Target="tags/tag1.xml"/><Relationship Id="rId10" Type="http://schemas.openxmlformats.org/officeDocument/2006/relationships/slide" Target="slides/slide8.xml"/><Relationship Id="rId19" Type="http://schemas.openxmlformats.org/officeDocument/2006/relationships/tableStyles" Target="tableStyles.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IN"/>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1699836-02B7-459A-AF64-A000817D576C}" type="datetimeFigureOut">
              <a:rPr lang="en-IN" smtClean="0"/>
              <a:t>15-03-2026</a:t>
            </a:fld>
            <a:endParaRPr lang="en-IN"/>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IN"/>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IN"/>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3065E4E-ABE4-4C79-8716-B93932D5FBD3}" type="slidenum">
              <a:rPr lang="en-IN" smtClean="0"/>
              <a:t>‹#›</a:t>
            </a:fld>
            <a:endParaRPr lang="en-IN"/>
          </a:p>
        </p:txBody>
      </p:sp>
    </p:spTree>
    <p:extLst>
      <p:ext uri="{BB962C8B-B14F-4D97-AF65-F5344CB8AC3E}">
        <p14:creationId xmlns:p14="http://schemas.microsoft.com/office/powerpoint/2010/main" val="194133165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F3065E4E-ABE4-4C79-8716-B93932D5FBD3}" type="slidenum">
              <a:rPr lang="en-IN" smtClean="0"/>
              <a:t>1</a:t>
            </a:fld>
            <a:endParaRPr lang="en-IN"/>
          </a:p>
        </p:txBody>
      </p:sp>
    </p:spTree>
    <p:extLst>
      <p:ext uri="{BB962C8B-B14F-4D97-AF65-F5344CB8AC3E}">
        <p14:creationId xmlns:p14="http://schemas.microsoft.com/office/powerpoint/2010/main" val="285826633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D88B07-5A8B-12D3-48D5-B8315D13CDF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87B6700-05A0-7411-109E-A374569B630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488D759-B238-4D1C-A179-63DF885F62A2}"/>
              </a:ext>
            </a:extLst>
          </p:cNvPr>
          <p:cNvSpPr>
            <a:spLocks noGrp="1"/>
          </p:cNvSpPr>
          <p:nvPr>
            <p:ph type="body" idx="1"/>
          </p:nvPr>
        </p:nvSpPr>
        <p:spPr/>
        <p:txBody>
          <a:bodyPr/>
          <a:lstStyle/>
          <a:p>
            <a:endParaRPr lang="en-IN">
              <a:cs typeface="Calibri"/>
            </a:endParaRPr>
          </a:p>
        </p:txBody>
      </p:sp>
      <p:sp>
        <p:nvSpPr>
          <p:cNvPr id="4" name="Slide Number Placeholder 3">
            <a:extLst>
              <a:ext uri="{FF2B5EF4-FFF2-40B4-BE49-F238E27FC236}">
                <a16:creationId xmlns:a16="http://schemas.microsoft.com/office/drawing/2014/main" id="{74C31F17-191B-CFE4-28A8-DF229B949339}"/>
              </a:ext>
            </a:extLst>
          </p:cNvPr>
          <p:cNvSpPr>
            <a:spLocks noGrp="1"/>
          </p:cNvSpPr>
          <p:nvPr>
            <p:ph type="sldNum" sz="quarter" idx="5"/>
          </p:nvPr>
        </p:nvSpPr>
        <p:spPr/>
        <p:txBody>
          <a:bodyPr/>
          <a:lstStyle/>
          <a:p>
            <a:fld id="{F3065E4E-ABE4-4C79-8716-B93932D5FBD3}" type="slidenum">
              <a:rPr lang="en-IN" smtClean="0"/>
              <a:t>11</a:t>
            </a:fld>
            <a:endParaRPr lang="en-IN"/>
          </a:p>
        </p:txBody>
      </p:sp>
    </p:spTree>
    <p:extLst>
      <p:ext uri="{BB962C8B-B14F-4D97-AF65-F5344CB8AC3E}">
        <p14:creationId xmlns:p14="http://schemas.microsoft.com/office/powerpoint/2010/main" val="2076854536"/>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slideMaster" Target="../slideMasters/slideMaster1.xml"/><Relationship Id="rId1" Type="http://schemas.openxmlformats.org/officeDocument/2006/relationships/tags" Target="../tags/tag3.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Slide">
    <p:spTree>
      <p:nvGrpSpPr>
        <p:cNvPr id="1" name=""/>
        <p:cNvGrpSpPr/>
        <p:nvPr/>
      </p:nvGrpSpPr>
      <p:grpSpPr>
        <a:xfrm>
          <a:off x="0" y="0"/>
          <a:ext cx="0" cy="0"/>
          <a:chOff x="0" y="0"/>
          <a:chExt cx="0" cy="0"/>
        </a:xfrm>
      </p:grpSpPr>
    </p:spTree>
    <p:custDataLst>
      <p:tags r:id="rId1"/>
    </p:custDataLst>
    <p:extLst>
      <p:ext uri="{BB962C8B-B14F-4D97-AF65-F5344CB8AC3E}">
        <p14:creationId xmlns:p14="http://schemas.microsoft.com/office/powerpoint/2010/main" val="4062684690"/>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and body" userDrawn="1">
  <p:cSld name="1_Title and body">
    <p:spTree>
      <p:nvGrpSpPr>
        <p:cNvPr id="1" name="Shape 13"/>
        <p:cNvGrpSpPr/>
        <p:nvPr/>
      </p:nvGrpSpPr>
      <p:grpSpPr>
        <a:xfrm>
          <a:off x="0" y="0"/>
          <a:ext cx="0" cy="0"/>
          <a:chOff x="0" y="0"/>
          <a:chExt cx="0" cy="0"/>
        </a:xfrm>
      </p:grpSpPr>
    </p:spTree>
    <p:extLst>
      <p:ext uri="{BB962C8B-B14F-4D97-AF65-F5344CB8AC3E}">
        <p14:creationId xmlns:p14="http://schemas.microsoft.com/office/powerpoint/2010/main" val="976909704"/>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type="obj">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0B54273-D1B2-B5DA-BF7E-9FF169DF6E64}"/>
              </a:ext>
            </a:extLst>
          </p:cNvPr>
          <p:cNvSpPr>
            <a:spLocks noGrp="1"/>
          </p:cNvSpPr>
          <p:nvPr>
            <p:ph type="title"/>
          </p:nvPr>
        </p:nvSpPr>
        <p:spPr/>
        <p:txBody>
          <a:bodyPr/>
          <a:lstStyle/>
          <a:p>
            <a:r>
              <a:rPr lang="en-US"/>
              <a:t>Click to edit Master title style</a:t>
            </a:r>
            <a:endParaRPr lang="en-IN"/>
          </a:p>
        </p:txBody>
      </p:sp>
      <p:sp>
        <p:nvSpPr>
          <p:cNvPr id="3" name="Content Placeholder 2">
            <a:extLst>
              <a:ext uri="{FF2B5EF4-FFF2-40B4-BE49-F238E27FC236}">
                <a16:creationId xmlns:a16="http://schemas.microsoft.com/office/drawing/2014/main" id="{330EE723-48AC-C184-D51D-DB184D9E4A13}"/>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CA5A217C-58BE-CEDC-FE42-FFECCA1613A4}"/>
              </a:ext>
            </a:extLst>
          </p:cNvPr>
          <p:cNvSpPr>
            <a:spLocks noGrp="1"/>
          </p:cNvSpPr>
          <p:nvPr>
            <p:ph type="dt" sz="half" idx="10"/>
          </p:nvPr>
        </p:nvSpPr>
        <p:spPr/>
        <p:txBody>
          <a:bodyPr/>
          <a:lstStyle/>
          <a:p>
            <a:fld id="{CB3FA99E-0146-4BD9-9E30-4EB71F3A4207}" type="datetimeFigureOut">
              <a:rPr lang="en-IN" smtClean="0"/>
              <a:t>15-03-2026</a:t>
            </a:fld>
            <a:endParaRPr lang="en-IN"/>
          </a:p>
        </p:txBody>
      </p:sp>
      <p:sp>
        <p:nvSpPr>
          <p:cNvPr id="5" name="Footer Placeholder 4">
            <a:extLst>
              <a:ext uri="{FF2B5EF4-FFF2-40B4-BE49-F238E27FC236}">
                <a16:creationId xmlns:a16="http://schemas.microsoft.com/office/drawing/2014/main" id="{72F67DFB-4595-5610-E73D-EA112439D59D}"/>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9AB5188B-8994-FE2D-E924-64F2FB541B2D}"/>
              </a:ext>
            </a:extLst>
          </p:cNvPr>
          <p:cNvSpPr>
            <a:spLocks noGrp="1"/>
          </p:cNvSpPr>
          <p:nvPr>
            <p:ph type="sldNum" sz="quarter" idx="12"/>
          </p:nvPr>
        </p:nvSpPr>
        <p:spPr/>
        <p:txBody>
          <a:bodyPr/>
          <a:lstStyle/>
          <a:p>
            <a:fld id="{34381918-31C6-44C6-A382-2FA557A3F6B9}" type="slidenum">
              <a:rPr lang="en-IN" smtClean="0"/>
              <a:t>‹#›</a:t>
            </a:fld>
            <a:endParaRPr lang="en-IN"/>
          </a:p>
        </p:txBody>
      </p:sp>
    </p:spTree>
    <p:extLst>
      <p:ext uri="{BB962C8B-B14F-4D97-AF65-F5344CB8AC3E}">
        <p14:creationId xmlns:p14="http://schemas.microsoft.com/office/powerpoint/2010/main" val="375092854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4EDE50D6-574B-40AF-946F-D52A04ADE379}" type="datetime1">
              <a:rPr lang="en-US" smtClean="0"/>
              <a:t>3/15/2026</a:t>
            </a:fld>
            <a:endParaRPr lang="en-US"/>
          </a:p>
        </p:txBody>
      </p:sp>
      <p:sp>
        <p:nvSpPr>
          <p:cNvPr id="3" name="Footer Placeholder 2"/>
          <p:cNvSpPr>
            <a:spLocks noGrp="1"/>
          </p:cNvSpPr>
          <p:nvPr>
            <p:ph type="ftr" sz="quarter" idx="11"/>
          </p:nvPr>
        </p:nvSpPr>
        <p:spPr>
          <a:xfrm>
            <a:off x="581192" y="6423914"/>
            <a:ext cx="6917210" cy="365125"/>
          </a:xfrm>
          <a:prstGeom prst="rect">
            <a:avLst/>
          </a:prstGeom>
        </p:spPr>
        <p:txBody>
          <a:bodyPr/>
          <a:lstStyle/>
          <a:p>
            <a:endParaRPr lang="en-US"/>
          </a:p>
        </p:txBody>
      </p:sp>
      <p:sp>
        <p:nvSpPr>
          <p:cNvPr id="4" name="Slide Number Placeholder 3"/>
          <p:cNvSpPr>
            <a:spLocks noGrp="1"/>
          </p:cNvSpPr>
          <p:nvPr>
            <p:ph type="sldNum" sz="quarter" idx="12"/>
          </p:nvPr>
        </p:nvSpPr>
        <p:spPr/>
        <p:txBody>
          <a:bodyPr/>
          <a:lstStyle/>
          <a:p>
            <a:fld id="{3A98EE3D-8CD1-4C3F-BD1C-C98C9596463C}" type="slidenum">
              <a:rPr lang="en-US" smtClean="0"/>
              <a:t>‹#›</a:t>
            </a:fld>
            <a:endParaRPr lang="en-US"/>
          </a:p>
        </p:txBody>
      </p:sp>
    </p:spTree>
    <p:extLst>
      <p:ext uri="{BB962C8B-B14F-4D97-AF65-F5344CB8AC3E}">
        <p14:creationId xmlns:p14="http://schemas.microsoft.com/office/powerpoint/2010/main" val="115759291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GB"/>
              <a:t>Click to edit Master title style</a:t>
            </a:r>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a:t>
            </a:r>
          </a:p>
        </p:txBody>
      </p:sp>
      <p:sp>
        <p:nvSpPr>
          <p:cNvPr id="4" name="Date Placeholder 3"/>
          <p:cNvSpPr>
            <a:spLocks noGrp="1"/>
          </p:cNvSpPr>
          <p:nvPr>
            <p:ph type="dt" sz="half" idx="10"/>
          </p:nvPr>
        </p:nvSpPr>
        <p:spPr/>
        <p:txBody>
          <a:bodyPr/>
          <a:lstStyle/>
          <a:p>
            <a:fld id="{846CE7D5-CF57-46EF-B807-FDD0502418D4}" type="datetimeFigureOut">
              <a:rPr lang="en-GB" smtClean="0"/>
              <a:t>15/03/2026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92885632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itle Slide">
    <p:spTree>
      <p:nvGrpSpPr>
        <p:cNvPr id="1" name=""/>
        <p:cNvGrpSpPr/>
        <p:nvPr/>
      </p:nvGrpSpPr>
      <p:grpSpPr>
        <a:xfrm>
          <a:off x="0" y="0"/>
          <a:ext cx="0" cy="0"/>
          <a:chOff x="0" y="0"/>
          <a:chExt cx="0" cy="0"/>
        </a:xfrm>
      </p:grpSpPr>
    </p:spTree>
    <p:extLst>
      <p:ext uri="{BB962C8B-B14F-4D97-AF65-F5344CB8AC3E}">
        <p14:creationId xmlns:p14="http://schemas.microsoft.com/office/powerpoint/2010/main" val="202710732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Title and Vertical Text">
    <p:spTree>
      <p:nvGrpSpPr>
        <p:cNvPr id="1" name=""/>
        <p:cNvGrpSpPr/>
        <p:nvPr/>
      </p:nvGrpSpPr>
      <p:grpSpPr>
        <a:xfrm>
          <a:off x="0" y="0"/>
          <a:ext cx="0" cy="0"/>
          <a:chOff x="0" y="0"/>
          <a:chExt cx="0" cy="0"/>
        </a:xfrm>
      </p:grpSpPr>
    </p:spTree>
    <p:extLst>
      <p:ext uri="{BB962C8B-B14F-4D97-AF65-F5344CB8AC3E}">
        <p14:creationId xmlns:p14="http://schemas.microsoft.com/office/powerpoint/2010/main" val="264522937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Vertical Title and Text">
    <p:spTree>
      <p:nvGrpSpPr>
        <p:cNvPr id="1" name=""/>
        <p:cNvGrpSpPr/>
        <p:nvPr/>
      </p:nvGrpSpPr>
      <p:grpSpPr>
        <a:xfrm>
          <a:off x="0" y="0"/>
          <a:ext cx="0" cy="0"/>
          <a:chOff x="0" y="0"/>
          <a:chExt cx="0" cy="0"/>
        </a:xfrm>
      </p:grpSpPr>
    </p:spTree>
    <p:extLst>
      <p:ext uri="{BB962C8B-B14F-4D97-AF65-F5344CB8AC3E}">
        <p14:creationId xmlns:p14="http://schemas.microsoft.com/office/powerpoint/2010/main" val="148987096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Title and body" userDrawn="1">
  <p:cSld name="1_Title and body">
    <p:spTree>
      <p:nvGrpSpPr>
        <p:cNvPr id="1" name="Shape 13"/>
        <p:cNvGrpSpPr/>
        <p:nvPr/>
      </p:nvGrpSpPr>
      <p:grpSpPr>
        <a:xfrm>
          <a:off x="0" y="0"/>
          <a:ext cx="0" cy="0"/>
          <a:chOff x="0" y="0"/>
          <a:chExt cx="0" cy="0"/>
        </a:xfrm>
      </p:grpSpPr>
    </p:spTree>
    <p:extLst>
      <p:ext uri="{BB962C8B-B14F-4D97-AF65-F5344CB8AC3E}">
        <p14:creationId xmlns:p14="http://schemas.microsoft.com/office/powerpoint/2010/main" val="979747656"/>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Masters/_rels/slideMaster1.xml.rels><?xml version="1.0" encoding="UTF-8" standalone="yes"?>
<Relationships xmlns="http://schemas.openxmlformats.org/package/2006/relationships"><Relationship Id="rId8" Type="http://schemas.openxmlformats.org/officeDocument/2006/relationships/image" Target="../media/image1.png"/><Relationship Id="rId3" Type="http://schemas.openxmlformats.org/officeDocument/2006/relationships/slideLayout" Target="../slideLayouts/slideLayout3.xml"/><Relationship Id="rId7" Type="http://schemas.openxmlformats.org/officeDocument/2006/relationships/tags" Target="../tags/tag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heme" Target="../theme/theme1.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_rels/slideMaster2.xml.rels><?xml version="1.0" encoding="UTF-8" standalone="yes"?>
<Relationships xmlns="http://schemas.openxmlformats.org/package/2006/relationships"><Relationship Id="rId3" Type="http://schemas.openxmlformats.org/officeDocument/2006/relationships/slideLayout" Target="../slideLayouts/slideLayout8.xml"/><Relationship Id="rId2" Type="http://schemas.openxmlformats.org/officeDocument/2006/relationships/slideLayout" Target="../slideLayouts/slideLayout7.xml"/><Relationship Id="rId1" Type="http://schemas.openxmlformats.org/officeDocument/2006/relationships/slideLayout" Target="../slideLayouts/slideLayout6.xml"/><Relationship Id="rId5" Type="http://schemas.openxmlformats.org/officeDocument/2006/relationships/theme" Target="../theme/theme2.xml"/><Relationship Id="rId4"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ABE36FD2-5CF9-42B6-267C-75A9A8826A1C}"/>
              </a:ext>
            </a:extLst>
          </p:cNvPr>
          <p:cNvSpPr/>
          <p:nvPr userDrawn="1"/>
        </p:nvSpPr>
        <p:spPr>
          <a:xfrm>
            <a:off x="0" y="0"/>
            <a:ext cx="10374086" cy="660400"/>
          </a:xfrm>
          <a:prstGeom prst="rect">
            <a:avLst/>
          </a:prstGeom>
          <a:solidFill>
            <a:srgbClr val="26357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2" name="Rectangle 21">
            <a:extLst>
              <a:ext uri="{FF2B5EF4-FFF2-40B4-BE49-F238E27FC236}">
                <a16:creationId xmlns:a16="http://schemas.microsoft.com/office/drawing/2014/main" id="{85F6CF07-40A9-24A4-F336-0BDA8D93267D}"/>
              </a:ext>
            </a:extLst>
          </p:cNvPr>
          <p:cNvSpPr/>
          <p:nvPr userDrawn="1"/>
        </p:nvSpPr>
        <p:spPr>
          <a:xfrm>
            <a:off x="0" y="6692900"/>
            <a:ext cx="12192000" cy="165100"/>
          </a:xfrm>
          <a:prstGeom prst="rect">
            <a:avLst/>
          </a:prstGeom>
          <a:solidFill>
            <a:srgbClr val="34A75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pic>
        <p:nvPicPr>
          <p:cNvPr id="1028" name="Picture 4" descr="A black background with grey text  AI-generated content may be incorrect.">
            <a:extLst>
              <a:ext uri="{FF2B5EF4-FFF2-40B4-BE49-F238E27FC236}">
                <a16:creationId xmlns:a16="http://schemas.microsoft.com/office/drawing/2014/main" id="{66C649D9-DD8B-5B7D-F409-A3797AEF3D36}"/>
              </a:ext>
            </a:extLst>
          </p:cNvPr>
          <p:cNvPicPr>
            <a:picLocks noChangeAspect="1" noChangeArrowheads="1"/>
          </p:cNvPicPr>
          <p:nvPr userDrawn="1"/>
        </p:nvPicPr>
        <p:blipFill>
          <a:blip r:embed="rId8">
            <a:extLst>
              <a:ext uri="{28A0092B-C50C-407E-A947-70E740481C1C}">
                <a14:useLocalDpi xmlns:a14="http://schemas.microsoft.com/office/drawing/2010/main" val="0"/>
              </a:ext>
            </a:extLst>
          </a:blip>
          <a:srcRect/>
          <a:stretch>
            <a:fillRect/>
          </a:stretch>
        </p:blipFill>
        <p:spPr bwMode="auto">
          <a:xfrm>
            <a:off x="10465905" y="91005"/>
            <a:ext cx="1466678" cy="478389"/>
          </a:xfrm>
          <a:prstGeom prst="rect">
            <a:avLst/>
          </a:prstGeom>
          <a:noFill/>
          <a:extLst>
            <a:ext uri="{909E8E84-426E-40DD-AFC4-6F175D3DCCD1}">
              <a14:hiddenFill xmlns:a14="http://schemas.microsoft.com/office/drawing/2010/main">
                <a:solidFill>
                  <a:srgbClr val="FFFFFF"/>
                </a:solidFill>
              </a14:hiddenFill>
            </a:ext>
          </a:extLst>
        </p:spPr>
      </p:pic>
    </p:spTree>
    <p:custDataLst>
      <p:tags r:id="rId7"/>
    </p:custDataLst>
    <p:extLst>
      <p:ext uri="{BB962C8B-B14F-4D97-AF65-F5344CB8AC3E}">
        <p14:creationId xmlns:p14="http://schemas.microsoft.com/office/powerpoint/2010/main" val="3478975145"/>
      </p:ext>
    </p:extLst>
  </p:cSld>
  <p:clrMap bg1="lt1" tx1="dk1" bg2="lt2" tx2="dk2" accent1="accent1" accent2="accent2" accent3="accent3" accent4="accent4" accent5="accent5" accent6="accent6" hlink="hlink" folHlink="folHlink"/>
  <p:sldLayoutIdLst>
    <p:sldLayoutId id="2147483651" r:id="rId1"/>
    <p:sldLayoutId id="2147483665" r:id="rId2"/>
    <p:sldLayoutId id="2147483666" r:id="rId3"/>
    <p:sldLayoutId id="2147483667" r:id="rId4"/>
    <p:sldLayoutId id="2147483668" r:id="rId5"/>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p15:clr>
            <a:srgbClr val="F26B43"/>
          </p15:clr>
        </p15:guide>
        <p15:guide id="2" pos="3840">
          <p15:clr>
            <a:srgbClr val="F26B43"/>
          </p15:clr>
        </p15:guide>
      </p15:sldGuideLst>
    </p:ext>
  </p:extLst>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035179268"/>
      </p:ext>
    </p:extLst>
  </p:cSld>
  <p:clrMap bg1="lt1" tx1="dk1" bg2="lt2" tx2="dk2" accent1="accent1" accent2="accent2" accent3="accent3" accent4="accent4" accent5="accent5" accent6="accent6" hlink="hlink" folHlink="folHlink"/>
  <p:sldLayoutIdLst>
    <p:sldLayoutId id="2147483653" r:id="rId1"/>
    <p:sldLayoutId id="2147483662" r:id="rId2"/>
    <p:sldLayoutId id="2147483663" r:id="rId3"/>
    <p:sldLayoutId id="2147483664" r:id="rId4"/>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userDrawn="1">
          <p15:clr>
            <a:srgbClr val="F26B43"/>
          </p15:clr>
        </p15:guide>
        <p15:guide id="2" pos="3840" userDrawn="1">
          <p15:clr>
            <a:srgbClr val="F26B43"/>
          </p15:clr>
        </p15:guide>
      </p15:sldGuideLst>
    </p:ext>
  </p:extLst>
</p:sldMaster>
</file>

<file path=ppt/slides/_rels/slide1.xml.rels><?xml version="1.0" encoding="UTF-8" standalone="yes"?>
<Relationships xmlns="http://schemas.openxmlformats.org/package/2006/relationships"><Relationship Id="rId3" Type="http://schemas.openxmlformats.org/officeDocument/2006/relationships/notesSlide" Target="../notesSlides/notesSlide1.xml"/><Relationship Id="rId2" Type="http://schemas.openxmlformats.org/officeDocument/2006/relationships/slideLayout" Target="../slideLayouts/slideLayout6.xml"/><Relationship Id="rId1" Type="http://schemas.openxmlformats.org/officeDocument/2006/relationships/tags" Target="../tags/tag4.xml"/><Relationship Id="rId5" Type="http://schemas.openxmlformats.org/officeDocument/2006/relationships/image" Target="../media/image2.png"/><Relationship Id="rId4"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3" Type="http://schemas.openxmlformats.org/officeDocument/2006/relationships/notesSlide" Target="../notesSlides/notesSlide2.xml"/><Relationship Id="rId2" Type="http://schemas.openxmlformats.org/officeDocument/2006/relationships/slideLayout" Target="../slideLayouts/slideLayout1.xml"/><Relationship Id="rId1" Type="http://schemas.openxmlformats.org/officeDocument/2006/relationships/tags" Target="../tags/tag5.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Rectangle 18">
            <a:extLst>
              <a:ext uri="{FF2B5EF4-FFF2-40B4-BE49-F238E27FC236}">
                <a16:creationId xmlns:a16="http://schemas.microsoft.com/office/drawing/2014/main" id="{940A069D-B6C2-7B0A-6719-9C65A27E0952}"/>
              </a:ext>
            </a:extLst>
          </p:cNvPr>
          <p:cNvSpPr/>
          <p:nvPr/>
        </p:nvSpPr>
        <p:spPr>
          <a:xfrm>
            <a:off x="-32657" y="3429000"/>
            <a:ext cx="424543" cy="3429000"/>
          </a:xfrm>
          <a:prstGeom prst="rect">
            <a:avLst/>
          </a:prstGeom>
          <a:solidFill>
            <a:srgbClr val="34A75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0" name="Rectangle 39">
            <a:extLst>
              <a:ext uri="{FF2B5EF4-FFF2-40B4-BE49-F238E27FC236}">
                <a16:creationId xmlns:a16="http://schemas.microsoft.com/office/drawing/2014/main" id="{55C78EFA-3B33-383D-31A6-F48EC0533950}"/>
              </a:ext>
            </a:extLst>
          </p:cNvPr>
          <p:cNvSpPr/>
          <p:nvPr/>
        </p:nvSpPr>
        <p:spPr>
          <a:xfrm>
            <a:off x="0" y="0"/>
            <a:ext cx="228600" cy="3429000"/>
          </a:xfrm>
          <a:prstGeom prst="rect">
            <a:avLst/>
          </a:prstGeom>
          <a:solidFill>
            <a:srgbClr val="26357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Rectangle 17">
            <a:extLst>
              <a:ext uri="{FF2B5EF4-FFF2-40B4-BE49-F238E27FC236}">
                <a16:creationId xmlns:a16="http://schemas.microsoft.com/office/drawing/2014/main" id="{97DD7732-9B23-40F7-1FF7-FD50BDC193D8}"/>
              </a:ext>
            </a:extLst>
          </p:cNvPr>
          <p:cNvSpPr/>
          <p:nvPr/>
        </p:nvSpPr>
        <p:spPr>
          <a:xfrm>
            <a:off x="7913913" y="0"/>
            <a:ext cx="4985657" cy="315686"/>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Rectangle 19">
            <a:extLst>
              <a:ext uri="{FF2B5EF4-FFF2-40B4-BE49-F238E27FC236}">
                <a16:creationId xmlns:a16="http://schemas.microsoft.com/office/drawing/2014/main" id="{D2DA2A85-6D5C-2987-0FF8-3AF240456D3B}"/>
              </a:ext>
            </a:extLst>
          </p:cNvPr>
          <p:cNvSpPr/>
          <p:nvPr/>
        </p:nvSpPr>
        <p:spPr>
          <a:xfrm>
            <a:off x="-32657" y="6509659"/>
            <a:ext cx="12888684" cy="348341"/>
          </a:xfrm>
          <a:prstGeom prst="rect">
            <a:avLst/>
          </a:prstGeom>
          <a:solidFill>
            <a:srgbClr val="34A75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050" name="Picture 2" descr="A black background with grey text  AI-generated content may be incorrect.">
            <a:extLst>
              <a:ext uri="{FF2B5EF4-FFF2-40B4-BE49-F238E27FC236}">
                <a16:creationId xmlns:a16="http://schemas.microsoft.com/office/drawing/2014/main" id="{4D362339-2CD4-BEA9-8BCD-81A300A3C9CD}"/>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97304" y="316620"/>
            <a:ext cx="1725854" cy="562925"/>
          </a:xfrm>
          <a:prstGeom prst="rect">
            <a:avLst/>
          </a:prstGeom>
          <a:noFill/>
          <a:extLst>
            <a:ext uri="{909E8E84-426E-40DD-AFC4-6F175D3DCCD1}">
              <a14:hiddenFill xmlns:a14="http://schemas.microsoft.com/office/drawing/2010/main">
                <a:solidFill>
                  <a:srgbClr val="FFFFFF"/>
                </a:solidFill>
              </a14:hiddenFill>
            </a:ext>
          </a:extLst>
        </p:spPr>
      </p:pic>
      <p:sp>
        <p:nvSpPr>
          <p:cNvPr id="2" name="Rectangle 1">
            <a:extLst>
              <a:ext uri="{FF2B5EF4-FFF2-40B4-BE49-F238E27FC236}">
                <a16:creationId xmlns:a16="http://schemas.microsoft.com/office/drawing/2014/main" id="{91DC6ABD-215C-4EA8-A483-CEF5B99AB38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nvSpPr>
        <p:spPr bwMode="white">
          <a:xfrm>
            <a:off x="0" y="0"/>
            <a:ext cx="12191999" cy="6857365"/>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GB"/>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a:p>
        </p:txBody>
      </p:sp>
      <p:sp>
        <p:nvSpPr>
          <p:cNvPr id="3" name="Title 1">
            <a:extLst>
              <a:ext uri="{FF2B5EF4-FFF2-40B4-BE49-F238E27FC236}">
                <a16:creationId xmlns:a16="http://schemas.microsoft.com/office/drawing/2014/main" id="{0F837936-4230-3A98-A2A1-6E77E027B36D}"/>
              </a:ext>
            </a:extLst>
          </p:cNvPr>
          <p:cNvSpPr>
            <a:spLocks noGrp="1"/>
          </p:cNvSpPr>
          <p:nvPr/>
        </p:nvSpPr>
        <p:spPr>
          <a:xfrm>
            <a:off x="434213" y="480395"/>
            <a:ext cx="4746772" cy="2506766"/>
          </a:xfrm>
          <a:prstGeom prst="rect">
            <a:avLst/>
          </a:prstGeom>
        </p:spPr>
        <p:txBody>
          <a:bodyPr vert="horz" lIns="91440" tIns="45720" rIns="91440" bIns="45720" rtlCol="0" anchor="b">
            <a:norm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algn="l"/>
            <a:r>
              <a:rPr lang="en-US" sz="3200" b="1" kern="1200" dirty="0">
                <a:latin typeface="+mj-lt"/>
                <a:ea typeface="+mj-ea"/>
                <a:cs typeface="+mj-cs"/>
              </a:rPr>
              <a:t>CAPSTONE </a:t>
            </a:r>
            <a:r>
              <a:rPr lang="en-US" sz="3200" b="1" dirty="0"/>
              <a:t>PROJECT</a:t>
            </a:r>
            <a:endParaRPr lang="en-US" sz="5400" dirty="0">
              <a:latin typeface="Aptos"/>
            </a:endParaRPr>
          </a:p>
          <a:p>
            <a:pPr algn="l"/>
            <a:br>
              <a:rPr lang="en-US" sz="2400" b="1" dirty="0"/>
            </a:br>
            <a:r>
              <a:rPr lang="en-US" sz="2400" b="1" cap="all" dirty="0">
                <a:latin typeface="Aptos"/>
              </a:rPr>
              <a:t>ONLINE RETAIL SALES ANALYSIS</a:t>
            </a:r>
            <a:endParaRPr lang="en-US" sz="2400" dirty="0">
              <a:latin typeface="Aptos"/>
            </a:endParaRPr>
          </a:p>
          <a:p>
            <a:pPr algn="l"/>
            <a:endParaRPr lang="en-US" sz="5400" b="1" kern="1200" dirty="0"/>
          </a:p>
        </p:txBody>
      </p:sp>
      <p:sp>
        <p:nvSpPr>
          <p:cNvPr id="5" name="Subtitle 2">
            <a:extLst>
              <a:ext uri="{FF2B5EF4-FFF2-40B4-BE49-F238E27FC236}">
                <a16:creationId xmlns:a16="http://schemas.microsoft.com/office/drawing/2014/main" id="{3A663A0C-3931-F8E6-391C-2FF1FDBB09CD}"/>
              </a:ext>
            </a:extLst>
          </p:cNvPr>
          <p:cNvSpPr>
            <a:spLocks noGrp="1"/>
          </p:cNvSpPr>
          <p:nvPr/>
        </p:nvSpPr>
        <p:spPr>
          <a:xfrm>
            <a:off x="594127" y="3739889"/>
            <a:ext cx="4166512" cy="1915537"/>
          </a:xfrm>
          <a:prstGeom prst="rect">
            <a:avLst/>
          </a:prstGeom>
        </p:spPr>
        <p:txBody>
          <a:bodyPr vert="horz" lIns="91440" tIns="45720" rIns="91440" bIns="45720" rtlCol="0" anchor="t">
            <a:no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spcAft>
                <a:spcPts val="600"/>
              </a:spcAft>
            </a:pPr>
            <a:r>
              <a:rPr lang="en-US" sz="1200" b="1" cap="all" dirty="0"/>
              <a:t>Presented By: Prathmesh </a:t>
            </a:r>
            <a:r>
              <a:rPr lang="en-US" sz="1200" b="1" cap="all" dirty="0" err="1"/>
              <a:t>kangane</a:t>
            </a:r>
            <a:endParaRPr lang="en-US" sz="1200" cap="all" dirty="0"/>
          </a:p>
          <a:p>
            <a:pPr algn="l">
              <a:spcAft>
                <a:spcPts val="600"/>
              </a:spcAft>
            </a:pPr>
            <a:r>
              <a:rPr lang="en-US" sz="1200" b="1" cap="all" dirty="0"/>
              <a:t>Student Name: Prathmesh </a:t>
            </a:r>
            <a:r>
              <a:rPr lang="en-US" sz="1200" b="1" cap="all" dirty="0" err="1"/>
              <a:t>kangane</a:t>
            </a:r>
            <a:endParaRPr lang="en-US" sz="1200" b="1" cap="all" dirty="0"/>
          </a:p>
          <a:p>
            <a:pPr algn="l">
              <a:spcAft>
                <a:spcPts val="600"/>
              </a:spcAft>
            </a:pPr>
            <a:r>
              <a:rPr lang="en-US" sz="1200" b="1" cap="all" dirty="0"/>
              <a:t>College Name: Saraswati college of engineering</a:t>
            </a:r>
          </a:p>
          <a:p>
            <a:pPr algn="l">
              <a:spcAft>
                <a:spcPts val="600"/>
              </a:spcAft>
            </a:pPr>
            <a:r>
              <a:rPr lang="en-US" sz="1200" b="1" cap="all" dirty="0"/>
              <a:t>Department: </a:t>
            </a:r>
            <a:r>
              <a:rPr lang="en-US" sz="1200" b="1" cap="all" dirty="0" err="1"/>
              <a:t>cse-aiml</a:t>
            </a:r>
            <a:endParaRPr lang="en-US" sz="1200" b="1" cap="all" dirty="0"/>
          </a:p>
          <a:p>
            <a:pPr algn="l">
              <a:spcAft>
                <a:spcPts val="600"/>
              </a:spcAft>
            </a:pPr>
            <a:r>
              <a:rPr lang="en-US" sz="1200" b="1" cap="all" dirty="0"/>
              <a:t>Email ID: Prathmesh.kangane2003@gmail.com</a:t>
            </a:r>
          </a:p>
        </p:txBody>
      </p:sp>
      <p:sp>
        <p:nvSpPr>
          <p:cNvPr id="8" name="Rectangle 7">
            <a:extLst>
              <a:ext uri="{FF2B5EF4-FFF2-40B4-BE49-F238E27FC236}">
                <a16:creationId xmlns:a16="http://schemas.microsoft.com/office/drawing/2014/main" id="{04357C93-F0CB-4A1C-8F77-4E906378981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nvSpPr>
        <p:spPr>
          <a:xfrm>
            <a:off x="5386598" y="269324"/>
            <a:ext cx="6116779" cy="6208776"/>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GB"/>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a:p>
        </p:txBody>
      </p:sp>
      <p:pic>
        <p:nvPicPr>
          <p:cNvPr id="9" name="Picture 8">
            <a:extLst>
              <a:ext uri="{FF2B5EF4-FFF2-40B4-BE49-F238E27FC236}">
                <a16:creationId xmlns:a16="http://schemas.microsoft.com/office/drawing/2014/main" id="{B4288F3F-AD4C-81EA-1336-D2C00EFCC479}"/>
              </a:ext>
            </a:extLst>
          </p:cNvPr>
          <p:cNvPicPr>
            <a:picLocks noChangeAspect="1"/>
          </p:cNvPicPr>
          <p:nvPr/>
        </p:nvPicPr>
        <p:blipFill>
          <a:blip r:embed="rId5">
            <a:extLst>
              <a:ext uri="{28A0092B-C50C-407E-A947-70E740481C1C}">
                <a14:useLocalDpi xmlns:a14="http://schemas.microsoft.com/office/drawing/2010/main" val="0"/>
              </a:ext>
            </a:extLst>
          </a:blip>
          <a:srcRect/>
          <a:stretch/>
        </p:blipFill>
        <p:spPr>
          <a:xfrm>
            <a:off x="6538823" y="181435"/>
            <a:ext cx="3812055" cy="5718084"/>
          </a:xfrm>
          <a:prstGeom prst="rect">
            <a:avLst/>
          </a:prstGeom>
        </p:spPr>
      </p:pic>
    </p:spTree>
    <p:custDataLst>
      <p:tags r:id="rId1"/>
    </p:custDataLst>
    <p:extLst>
      <p:ext uri="{BB962C8B-B14F-4D97-AF65-F5344CB8AC3E}">
        <p14:creationId xmlns:p14="http://schemas.microsoft.com/office/powerpoint/2010/main" val="231033346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31E0E59-694D-9DFE-4488-37D5F2F480A7}"/>
              </a:ext>
            </a:extLst>
          </p:cNvPr>
          <p:cNvSpPr>
            <a:spLocks noGrp="1"/>
          </p:cNvSpPr>
          <p:nvPr>
            <p:ph type="title"/>
          </p:nvPr>
        </p:nvSpPr>
        <p:spPr>
          <a:xfrm>
            <a:off x="-1191" y="698500"/>
            <a:ext cx="10515600" cy="1325563"/>
          </a:xfrm>
        </p:spPr>
        <p:txBody>
          <a:bodyPr lIns="91440" tIns="45720" rIns="91440" bIns="45720" anchor="t">
            <a:normAutofit/>
          </a:bodyPr>
          <a:lstStyle/>
          <a:p>
            <a:r>
              <a:rPr lang="en-US" sz="5400" b="1" cap="all" dirty="0">
                <a:latin typeface="Arial"/>
                <a:cs typeface="Arial"/>
              </a:rPr>
              <a:t>OUTLINE:</a:t>
            </a:r>
            <a:endParaRPr lang="en-US" sz="5400" dirty="0"/>
          </a:p>
        </p:txBody>
      </p:sp>
      <p:sp>
        <p:nvSpPr>
          <p:cNvPr id="3" name="Content Placeholder 2">
            <a:extLst>
              <a:ext uri="{FF2B5EF4-FFF2-40B4-BE49-F238E27FC236}">
                <a16:creationId xmlns:a16="http://schemas.microsoft.com/office/drawing/2014/main" id="{1C04173D-62A9-AF06-B476-EEB827087147}"/>
              </a:ext>
            </a:extLst>
          </p:cNvPr>
          <p:cNvSpPr>
            <a:spLocks noGrp="1"/>
          </p:cNvSpPr>
          <p:nvPr>
            <p:ph idx="1"/>
          </p:nvPr>
        </p:nvSpPr>
        <p:spPr>
          <a:xfrm>
            <a:off x="433387" y="1822228"/>
            <a:ext cx="10515600" cy="4251960"/>
          </a:xfrm>
        </p:spPr>
        <p:txBody>
          <a:bodyPr vert="horz" lIns="91440" tIns="45720" rIns="91440" bIns="45720" rtlCol="0">
            <a:normAutofit/>
          </a:bodyPr>
          <a:lstStyle/>
          <a:p>
            <a:pPr marL="305435" indent="-305435">
              <a:spcBef>
                <a:spcPct val="20000"/>
              </a:spcBef>
              <a:spcAft>
                <a:spcPts val="600"/>
              </a:spcAft>
            </a:pPr>
            <a:r>
              <a:rPr lang="en-US" sz="2200" b="1" dirty="0">
                <a:latin typeface="Arial"/>
                <a:cs typeface="Arial"/>
              </a:rPr>
              <a:t>Problem Statement </a:t>
            </a:r>
          </a:p>
          <a:p>
            <a:pPr marL="305435" indent="-305435">
              <a:spcBef>
                <a:spcPct val="20000"/>
              </a:spcBef>
              <a:spcAft>
                <a:spcPts val="600"/>
              </a:spcAft>
            </a:pPr>
            <a:r>
              <a:rPr lang="en-US" sz="2200" b="1" dirty="0">
                <a:latin typeface="Arial"/>
                <a:cs typeface="Arial"/>
              </a:rPr>
              <a:t>Proposed System/Solution</a:t>
            </a:r>
            <a:endParaRPr lang="en-US" sz="2200" dirty="0">
              <a:latin typeface="Arial"/>
              <a:cs typeface="Arial"/>
            </a:endParaRPr>
          </a:p>
          <a:p>
            <a:pPr marL="305435" indent="-305435">
              <a:spcBef>
                <a:spcPct val="20000"/>
              </a:spcBef>
              <a:spcAft>
                <a:spcPts val="600"/>
              </a:spcAft>
            </a:pPr>
            <a:r>
              <a:rPr lang="en-US" sz="2200" b="1" dirty="0">
                <a:latin typeface="Arial"/>
                <a:cs typeface="Arial"/>
              </a:rPr>
              <a:t>System Development Approach </a:t>
            </a:r>
          </a:p>
          <a:p>
            <a:pPr marL="305435" indent="-305435">
              <a:spcBef>
                <a:spcPct val="20000"/>
              </a:spcBef>
              <a:spcAft>
                <a:spcPts val="600"/>
              </a:spcAft>
            </a:pPr>
            <a:r>
              <a:rPr lang="en-US" sz="2200" b="1" dirty="0">
                <a:latin typeface="Arial"/>
                <a:cs typeface="Arial"/>
              </a:rPr>
              <a:t>Algorithm &amp; Deployment  </a:t>
            </a:r>
            <a:endParaRPr lang="en-US" sz="2200" dirty="0">
              <a:latin typeface="Arial"/>
              <a:cs typeface="Arial"/>
            </a:endParaRPr>
          </a:p>
          <a:p>
            <a:pPr marL="305435" indent="-305435">
              <a:spcBef>
                <a:spcPct val="20000"/>
              </a:spcBef>
              <a:spcAft>
                <a:spcPts val="600"/>
              </a:spcAft>
            </a:pPr>
            <a:r>
              <a:rPr lang="en-US" sz="2200" b="1" dirty="0">
                <a:latin typeface="Arial"/>
                <a:cs typeface="Arial"/>
              </a:rPr>
              <a:t>Result (Output Image)</a:t>
            </a:r>
            <a:endParaRPr lang="en-US" sz="2200" dirty="0">
              <a:latin typeface="Arial"/>
              <a:cs typeface="Arial"/>
            </a:endParaRPr>
          </a:p>
          <a:p>
            <a:pPr marL="305435" indent="-305435">
              <a:spcBef>
                <a:spcPct val="20000"/>
              </a:spcBef>
              <a:spcAft>
                <a:spcPts val="600"/>
              </a:spcAft>
            </a:pPr>
            <a:r>
              <a:rPr lang="en-US" sz="2200" b="1" dirty="0">
                <a:latin typeface="Arial"/>
                <a:cs typeface="Arial"/>
              </a:rPr>
              <a:t>Conclusion</a:t>
            </a:r>
            <a:endParaRPr lang="en-US" sz="2200" dirty="0">
              <a:latin typeface="Arial"/>
              <a:cs typeface="Arial"/>
            </a:endParaRPr>
          </a:p>
          <a:p>
            <a:pPr marL="305435" indent="-305435">
              <a:spcBef>
                <a:spcPct val="20000"/>
              </a:spcBef>
              <a:spcAft>
                <a:spcPts val="600"/>
              </a:spcAft>
            </a:pPr>
            <a:r>
              <a:rPr lang="en-US" sz="2200" b="1" dirty="0">
                <a:latin typeface="Arial"/>
                <a:cs typeface="Arial"/>
              </a:rPr>
              <a:t>Future Scope</a:t>
            </a:r>
            <a:endParaRPr lang="en-US" sz="2200" dirty="0">
              <a:latin typeface="Arial"/>
              <a:cs typeface="Arial"/>
            </a:endParaRPr>
          </a:p>
          <a:p>
            <a:pPr marL="305435" indent="-305435">
              <a:spcBef>
                <a:spcPct val="20000"/>
              </a:spcBef>
              <a:spcAft>
                <a:spcPts val="600"/>
              </a:spcAft>
            </a:pPr>
            <a:r>
              <a:rPr lang="en-US" sz="2200" b="1" dirty="0">
                <a:latin typeface="Arial"/>
                <a:cs typeface="Arial"/>
              </a:rPr>
              <a:t>References</a:t>
            </a:r>
            <a:endParaRPr lang="en-US" sz="2200" dirty="0">
              <a:latin typeface="Arial"/>
              <a:cs typeface="Arial"/>
            </a:endParaRPr>
          </a:p>
          <a:p>
            <a:endParaRPr lang="en-GB" sz="2200" dirty="0">
              <a:latin typeface="Aptos" panose="020B0004020202020204"/>
              <a:cs typeface="Arial"/>
            </a:endParaRPr>
          </a:p>
        </p:txBody>
      </p:sp>
    </p:spTree>
    <p:extLst>
      <p:ext uri="{BB962C8B-B14F-4D97-AF65-F5344CB8AC3E}">
        <p14:creationId xmlns:p14="http://schemas.microsoft.com/office/powerpoint/2010/main" val="281787476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C39B35C-A00A-C6C7-8532-576758ED4255}"/>
              </a:ext>
            </a:extLst>
          </p:cNvPr>
          <p:cNvSpPr>
            <a:spLocks noGrp="1"/>
          </p:cNvSpPr>
          <p:nvPr>
            <p:ph type="title"/>
          </p:nvPr>
        </p:nvSpPr>
        <p:spPr>
          <a:xfrm>
            <a:off x="-1191" y="686594"/>
            <a:ext cx="10515600" cy="1325563"/>
          </a:xfrm>
        </p:spPr>
        <p:txBody>
          <a:bodyPr lIns="91440" tIns="45720" rIns="91440" bIns="45720" anchor="t">
            <a:normAutofit/>
          </a:bodyPr>
          <a:lstStyle/>
          <a:p>
            <a:r>
              <a:rPr lang="en-US" sz="4000" b="1" cap="all">
                <a:latin typeface="Arial"/>
                <a:cs typeface="Arial"/>
              </a:rPr>
              <a:t>Problem Statement:</a:t>
            </a:r>
            <a:endParaRPr lang="en-US" sz="4000"/>
          </a:p>
        </p:txBody>
      </p:sp>
      <p:sp>
        <p:nvSpPr>
          <p:cNvPr id="3" name="Content Placeholder 2">
            <a:extLst>
              <a:ext uri="{FF2B5EF4-FFF2-40B4-BE49-F238E27FC236}">
                <a16:creationId xmlns:a16="http://schemas.microsoft.com/office/drawing/2014/main" id="{28E8C97F-5AC9-F1CA-3CCC-090D5B13989A}"/>
              </a:ext>
            </a:extLst>
          </p:cNvPr>
          <p:cNvSpPr>
            <a:spLocks noGrp="1"/>
          </p:cNvSpPr>
          <p:nvPr>
            <p:ph idx="1"/>
          </p:nvPr>
        </p:nvSpPr>
        <p:spPr>
          <a:xfrm>
            <a:off x="290512" y="1715071"/>
            <a:ext cx="10515600" cy="4251960"/>
          </a:xfrm>
        </p:spPr>
        <p:txBody>
          <a:bodyPr vert="horz" lIns="91440" tIns="45720" rIns="91440" bIns="45720" rtlCol="0">
            <a:normAutofit/>
          </a:bodyPr>
          <a:lstStyle/>
          <a:p>
            <a:pPr marL="0" indent="0">
              <a:buNone/>
            </a:pPr>
            <a:r>
              <a:rPr lang="en-IN" sz="2200">
                <a:latin typeface="Franklin Gothic Book"/>
              </a:rPr>
              <a:t>A UK-based non-store online retailer operating between December 2010 and December 2011 generates thousands of daily transactions across 38 countries. However, business managers lack a unified view of revenue trends, customer purchasing behavior, and product demand by region. Raw transactional data in Excel format makes it impossible to identify top customers, peak revenue months, or high-demand markets without manual effort. The core challenge is to build an end-to-end Power BI dashboard that transforms the UCI Online Retail dataset into an interactive, insight-driven report — enabling management to track Total Revenue, Units Sold, Customer Count, monthly trends, and geographic demand patterns through a single consolidated view.</a:t>
            </a:r>
            <a:endParaRPr lang="en-US" sz="2200"/>
          </a:p>
        </p:txBody>
      </p:sp>
    </p:spTree>
    <p:extLst>
      <p:ext uri="{BB962C8B-B14F-4D97-AF65-F5344CB8AC3E}">
        <p14:creationId xmlns:p14="http://schemas.microsoft.com/office/powerpoint/2010/main" val="337291424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D27B4B1-584E-2479-D762-2265C7398D27}"/>
              </a:ext>
            </a:extLst>
          </p:cNvPr>
          <p:cNvSpPr>
            <a:spLocks noGrp="1"/>
          </p:cNvSpPr>
          <p:nvPr>
            <p:ph type="title"/>
          </p:nvPr>
        </p:nvSpPr>
        <p:spPr>
          <a:xfrm>
            <a:off x="-1191" y="603250"/>
            <a:ext cx="10515600" cy="1325563"/>
          </a:xfrm>
        </p:spPr>
        <p:txBody>
          <a:bodyPr lIns="91440" tIns="45720" rIns="91440" bIns="45720" anchor="t">
            <a:normAutofit/>
          </a:bodyPr>
          <a:lstStyle/>
          <a:p>
            <a:r>
              <a:rPr lang="en-US" sz="4000" b="1" cap="all">
                <a:latin typeface="Arial"/>
                <a:cs typeface="Arial"/>
              </a:rPr>
              <a:t>Proposed Solution:</a:t>
            </a:r>
            <a:endParaRPr lang="en-US" sz="4000" dirty="0"/>
          </a:p>
        </p:txBody>
      </p:sp>
      <p:sp>
        <p:nvSpPr>
          <p:cNvPr id="3" name="Content Placeholder 2">
            <a:extLst>
              <a:ext uri="{FF2B5EF4-FFF2-40B4-BE49-F238E27FC236}">
                <a16:creationId xmlns:a16="http://schemas.microsoft.com/office/drawing/2014/main" id="{AF67202D-4065-DDD7-98F1-4291C536D1A3}"/>
              </a:ext>
            </a:extLst>
          </p:cNvPr>
          <p:cNvSpPr>
            <a:spLocks noGrp="1"/>
          </p:cNvSpPr>
          <p:nvPr>
            <p:ph idx="1"/>
          </p:nvPr>
        </p:nvSpPr>
        <p:spPr>
          <a:xfrm>
            <a:off x="219075" y="1304306"/>
            <a:ext cx="10515600" cy="4251960"/>
          </a:xfrm>
        </p:spPr>
        <p:txBody>
          <a:bodyPr vert="horz" lIns="91440" tIns="45720" rIns="91440" bIns="45720" rtlCol="0" anchor="t">
            <a:noAutofit/>
          </a:bodyPr>
          <a:lstStyle/>
          <a:p>
            <a:pPr marL="305435" indent="-305435">
              <a:spcBef>
                <a:spcPct val="20000"/>
              </a:spcBef>
              <a:spcAft>
                <a:spcPts val="600"/>
              </a:spcAft>
              <a:buFont typeface="Arial"/>
              <a:buChar char="•"/>
            </a:pPr>
            <a:r>
              <a:rPr lang="en-IN" sz="1200" b="1" dirty="0">
                <a:latin typeface="Calibri"/>
                <a:ea typeface="Calibri"/>
                <a:cs typeface="Calibri"/>
              </a:rPr>
              <a:t>The proposed solution is a single-page interactive Power BI dashboard built on the UCI Online Retail dataset (541,909 transactions across 38 countries, Dec 2010 - Dec 2011). It delivers real-time visibility into revenue trends, customer behavior, and product demand by geography. The solution consists of the following components:</a:t>
            </a:r>
            <a:endParaRPr lang="en-IN" sz="1200" dirty="0">
              <a:latin typeface="Calibri"/>
              <a:ea typeface="Calibri"/>
              <a:cs typeface="Calibri"/>
            </a:endParaRPr>
          </a:p>
          <a:p>
            <a:pPr marL="305435" indent="-305435">
              <a:spcBef>
                <a:spcPct val="20000"/>
              </a:spcBef>
              <a:spcAft>
                <a:spcPts val="600"/>
              </a:spcAft>
              <a:buFont typeface="Arial"/>
              <a:buChar char="•"/>
            </a:pPr>
            <a:r>
              <a:rPr lang="en-IN" sz="1200" b="1" dirty="0">
                <a:latin typeface="Calibri"/>
                <a:ea typeface="Calibri"/>
                <a:cs typeface="Calibri"/>
              </a:rPr>
              <a:t>Data Collection:</a:t>
            </a:r>
            <a:endParaRPr lang="en-IN" sz="1200" dirty="0">
              <a:latin typeface="Calibri"/>
              <a:ea typeface="Calibri"/>
              <a:cs typeface="Calibri"/>
            </a:endParaRPr>
          </a:p>
          <a:p>
            <a:pPr marL="629920" lvl="1" indent="-305435">
              <a:spcBef>
                <a:spcPct val="20000"/>
              </a:spcBef>
              <a:spcAft>
                <a:spcPts val="600"/>
              </a:spcAft>
              <a:buFont typeface="Arial"/>
              <a:buChar char="•"/>
            </a:pPr>
            <a:r>
              <a:rPr lang="en-IN" sz="1200" b="1" dirty="0">
                <a:latin typeface="Calibri"/>
                <a:ea typeface="Calibri"/>
                <a:cs typeface="Calibri"/>
              </a:rPr>
              <a:t>Imported the Online Retail Excel file into Power BI Desktop — 541,909 rows with 8 columns: InvoiceNo, StockCode, Description, Quantity, InvoiceDate, UnitPrice, CustomerID, Country.</a:t>
            </a:r>
            <a:endParaRPr lang="en-IN" sz="1200" dirty="0">
              <a:latin typeface="Calibri"/>
              <a:ea typeface="Calibri"/>
              <a:cs typeface="Calibri"/>
            </a:endParaRPr>
          </a:p>
          <a:p>
            <a:pPr marL="629920" lvl="1" indent="-305435">
              <a:spcBef>
                <a:spcPct val="20000"/>
              </a:spcBef>
              <a:spcAft>
                <a:spcPts val="600"/>
              </a:spcAft>
              <a:buFont typeface="Arial"/>
              <a:buChar char="•"/>
            </a:pPr>
            <a:r>
              <a:rPr lang="en-IN" sz="1200" b="1" dirty="0">
                <a:latin typeface="Calibri"/>
                <a:ea typeface="Calibri"/>
                <a:cs typeface="Calibri"/>
              </a:rPr>
              <a:t>Verified data types for all columns — set InvoiceDate as Date/Time, Quantity and UnitPrice as Decimal Number.</a:t>
            </a:r>
            <a:endParaRPr lang="en-IN" sz="1200" dirty="0">
              <a:latin typeface="Calibri"/>
              <a:ea typeface="Calibri"/>
              <a:cs typeface="Calibri"/>
            </a:endParaRPr>
          </a:p>
          <a:p>
            <a:pPr marL="305435" indent="-305435">
              <a:spcBef>
                <a:spcPct val="20000"/>
              </a:spcBef>
              <a:spcAft>
                <a:spcPts val="600"/>
              </a:spcAft>
              <a:buFont typeface="Arial"/>
              <a:buChar char="•"/>
            </a:pPr>
            <a:r>
              <a:rPr lang="en-IN" sz="1200" b="1" dirty="0">
                <a:latin typeface="Calibri"/>
                <a:ea typeface="Calibri"/>
                <a:cs typeface="Calibri"/>
              </a:rPr>
              <a:t>Data Preprocessing:</a:t>
            </a:r>
            <a:endParaRPr lang="en-IN" sz="1200" dirty="0">
              <a:latin typeface="Calibri"/>
              <a:ea typeface="Calibri"/>
              <a:cs typeface="Calibri"/>
            </a:endParaRPr>
          </a:p>
          <a:p>
            <a:pPr marL="629920" lvl="1" indent="-305435">
              <a:spcBef>
                <a:spcPct val="20000"/>
              </a:spcBef>
              <a:spcAft>
                <a:spcPts val="600"/>
              </a:spcAft>
              <a:buFont typeface="Arial"/>
              <a:buChar char="•"/>
            </a:pPr>
            <a:r>
              <a:rPr lang="en-IN" sz="1200" b="1" dirty="0">
                <a:latin typeface="Calibri"/>
                <a:ea typeface="Calibri"/>
                <a:cs typeface="Calibri"/>
              </a:rPr>
              <a:t>Removed rows with null CustomerID (24.93% of rows), filtered out negative Quantity values (cancellations), and removed test/blank entries using Power Query Editor.</a:t>
            </a:r>
            <a:endParaRPr lang="en-IN" sz="1200" dirty="0">
              <a:latin typeface="Calibri"/>
              <a:ea typeface="Calibri"/>
              <a:cs typeface="Calibri"/>
            </a:endParaRPr>
          </a:p>
          <a:p>
            <a:pPr marL="629920" lvl="1" indent="-305435">
              <a:spcBef>
                <a:spcPct val="20000"/>
              </a:spcBef>
              <a:spcAft>
                <a:spcPts val="600"/>
              </a:spcAft>
              <a:buFont typeface="Arial"/>
              <a:buChar char="•"/>
            </a:pPr>
            <a:r>
              <a:rPr lang="en-IN" sz="1200" b="1" dirty="0">
                <a:latin typeface="Calibri"/>
                <a:ea typeface="Calibri"/>
                <a:cs typeface="Calibri"/>
              </a:rPr>
              <a:t>Created a calculated column: Revenue = Quantity * UnitPrice using DAX in the Modeling tab.</a:t>
            </a:r>
            <a:endParaRPr lang="en-IN" sz="1200" dirty="0">
              <a:latin typeface="Calibri"/>
              <a:ea typeface="Calibri"/>
              <a:cs typeface="Calibri"/>
            </a:endParaRPr>
          </a:p>
          <a:p>
            <a:pPr marL="305435" indent="-305435">
              <a:spcBef>
                <a:spcPct val="20000"/>
              </a:spcBef>
              <a:spcAft>
                <a:spcPts val="600"/>
              </a:spcAft>
              <a:buFont typeface="Arial"/>
              <a:buChar char="•"/>
            </a:pPr>
            <a:r>
              <a:rPr lang="en-IN" sz="1200" b="1" dirty="0">
                <a:latin typeface="Calibri"/>
                <a:ea typeface="Calibri"/>
                <a:cs typeface="Calibri"/>
              </a:rPr>
              <a:t>Machine Learning Algorithm:</a:t>
            </a:r>
            <a:endParaRPr lang="en-IN" sz="1200" dirty="0">
              <a:latin typeface="Calibri"/>
              <a:ea typeface="Calibri"/>
              <a:cs typeface="Calibri"/>
            </a:endParaRPr>
          </a:p>
          <a:p>
            <a:pPr marL="629920" lvl="1" indent="-305435">
              <a:spcBef>
                <a:spcPct val="20000"/>
              </a:spcBef>
              <a:spcAft>
                <a:spcPts val="600"/>
              </a:spcAft>
              <a:buFont typeface="Arial"/>
              <a:buChar char="•"/>
            </a:pPr>
            <a:r>
              <a:rPr lang="en-IN" sz="1200" b="1" dirty="0">
                <a:latin typeface="Calibri"/>
                <a:ea typeface="Calibri"/>
                <a:cs typeface="Calibri"/>
              </a:rPr>
              <a:t>Extracted Month from InvoiceDate using Power Query date functions for the Monthly Revenue Trend line chart.</a:t>
            </a:r>
            <a:endParaRPr lang="en-IN" sz="1200" dirty="0">
              <a:latin typeface="Calibri"/>
              <a:ea typeface="Calibri"/>
              <a:cs typeface="Calibri"/>
            </a:endParaRPr>
          </a:p>
          <a:p>
            <a:pPr marL="629920" lvl="1" indent="-305435">
              <a:spcBef>
                <a:spcPct val="20000"/>
              </a:spcBef>
              <a:spcAft>
                <a:spcPts val="600"/>
              </a:spcAft>
              <a:buFont typeface="Arial"/>
              <a:buChar char="•"/>
            </a:pPr>
            <a:r>
              <a:rPr lang="en-IN" sz="1200" b="1" dirty="0">
                <a:latin typeface="Calibri"/>
                <a:ea typeface="Calibri"/>
                <a:cs typeface="Calibri"/>
              </a:rPr>
              <a:t>Applied DAX measures: Total Revenue = SUM(Revenue), Total Quantity = SUM(Quantity), Unique Customers = DISTINCTCOUNT(CustomerID).</a:t>
            </a:r>
            <a:endParaRPr lang="en-IN" sz="1200" dirty="0">
              <a:latin typeface="Calibri"/>
              <a:ea typeface="Calibri"/>
              <a:cs typeface="Calibri"/>
            </a:endParaRPr>
          </a:p>
          <a:p>
            <a:pPr marL="305435" indent="-305435">
              <a:spcBef>
                <a:spcPct val="20000"/>
              </a:spcBef>
              <a:spcAft>
                <a:spcPts val="600"/>
              </a:spcAft>
              <a:buFont typeface="Arial"/>
              <a:buChar char="•"/>
            </a:pPr>
            <a:r>
              <a:rPr lang="en-IN" sz="1200" b="1" dirty="0">
                <a:latin typeface="Calibri"/>
                <a:ea typeface="Calibri"/>
                <a:cs typeface="Calibri"/>
              </a:rPr>
              <a:t>Deployment:</a:t>
            </a:r>
            <a:endParaRPr lang="en-IN" sz="1200" dirty="0">
              <a:latin typeface="Calibri"/>
              <a:ea typeface="Calibri"/>
              <a:cs typeface="Calibri"/>
            </a:endParaRPr>
          </a:p>
          <a:p>
            <a:pPr marL="629920" lvl="1" indent="-305435">
              <a:spcBef>
                <a:spcPct val="20000"/>
              </a:spcBef>
              <a:spcAft>
                <a:spcPts val="600"/>
              </a:spcAft>
              <a:buFont typeface="Arial"/>
              <a:buChar char="•"/>
            </a:pPr>
            <a:r>
              <a:rPr lang="en-IN" sz="1200" b="1" dirty="0">
                <a:latin typeface="Calibri"/>
                <a:ea typeface="Calibri"/>
                <a:cs typeface="Calibri"/>
              </a:rPr>
              <a:t>Designed a single-page dashboard with 3 KPI cards at top, Monthly Revenue line chart, Top 10 Countries bar chart, Top 10 Customers bar chart, and a Product Demand world map.</a:t>
            </a:r>
            <a:endParaRPr lang="en-IN" sz="1200" dirty="0">
              <a:latin typeface="Calibri"/>
              <a:ea typeface="Calibri"/>
              <a:cs typeface="Calibri"/>
            </a:endParaRPr>
          </a:p>
          <a:p>
            <a:pPr marL="629920" lvl="1" indent="-305435">
              <a:spcBef>
                <a:spcPct val="20000"/>
              </a:spcBef>
              <a:spcAft>
                <a:spcPts val="600"/>
              </a:spcAft>
              <a:buFont typeface="Arial"/>
              <a:buChar char="•"/>
            </a:pPr>
            <a:r>
              <a:rPr lang="en-IN" sz="1200" b="1" dirty="0">
                <a:latin typeface="Calibri"/>
                <a:ea typeface="Calibri"/>
                <a:cs typeface="Calibri"/>
              </a:rPr>
              <a:t>Applied Top N filters (Top 10) on Country and CustomerID visuals, excluded UK from country chart and blanks from customer chart for cleaner insights.</a:t>
            </a:r>
            <a:endParaRPr lang="en-IN" sz="1200" dirty="0">
              <a:latin typeface="Calibri"/>
              <a:ea typeface="Calibri"/>
              <a:cs typeface="Calibri"/>
            </a:endParaRPr>
          </a:p>
          <a:p>
            <a:pPr marL="305435" indent="-305435">
              <a:spcBef>
                <a:spcPct val="20000"/>
              </a:spcBef>
              <a:spcAft>
                <a:spcPts val="600"/>
              </a:spcAft>
              <a:buFont typeface="Arial"/>
              <a:buChar char="•"/>
            </a:pPr>
            <a:r>
              <a:rPr lang="en-IN" sz="1200" b="1" dirty="0">
                <a:latin typeface="Calibri"/>
                <a:ea typeface="Calibri"/>
                <a:cs typeface="Calibri"/>
              </a:rPr>
              <a:t>Evaluation:</a:t>
            </a:r>
            <a:endParaRPr lang="en-IN" sz="1200" dirty="0">
              <a:latin typeface="Calibri"/>
              <a:ea typeface="Calibri"/>
              <a:cs typeface="Calibri"/>
            </a:endParaRPr>
          </a:p>
          <a:p>
            <a:pPr marL="629920" lvl="1" indent="-305435">
              <a:spcBef>
                <a:spcPct val="20000"/>
              </a:spcBef>
              <a:spcAft>
                <a:spcPts val="600"/>
              </a:spcAft>
              <a:buFont typeface="Arial"/>
              <a:buChar char="•"/>
            </a:pPr>
            <a:r>
              <a:rPr lang="en-IN" sz="1200" b="1" dirty="0">
                <a:latin typeface="Calibri"/>
                <a:ea typeface="Calibri"/>
                <a:cs typeface="Calibri"/>
              </a:rPr>
              <a:t>Validated KPI card values against Excel pivot table totals to confirm Revenue, Quantity, and Customer Count accuracy.</a:t>
            </a:r>
            <a:endParaRPr lang="en-IN" sz="1200" dirty="0">
              <a:latin typeface="Calibri"/>
              <a:ea typeface="Calibri"/>
              <a:cs typeface="Calibri"/>
            </a:endParaRPr>
          </a:p>
          <a:p>
            <a:pPr marL="629920" lvl="1" indent="-305435">
              <a:spcBef>
                <a:spcPct val="20000"/>
              </a:spcBef>
              <a:spcAft>
                <a:spcPts val="600"/>
              </a:spcAft>
              <a:buFont typeface="Arial"/>
              <a:buChar char="•"/>
            </a:pPr>
            <a:r>
              <a:rPr lang="en-IN" sz="1200" b="1" dirty="0">
                <a:latin typeface="Calibri"/>
                <a:ea typeface="Calibri"/>
                <a:cs typeface="Calibri"/>
              </a:rPr>
              <a:t>Applied Power BI theme for consistent color styling and renamed all auto-generated titles to business-friendly labels.</a:t>
            </a:r>
            <a:endParaRPr lang="en-IN" sz="1200" dirty="0">
              <a:latin typeface="Calibri"/>
              <a:ea typeface="Calibri"/>
              <a:cs typeface="Calibri"/>
            </a:endParaRPr>
          </a:p>
          <a:p>
            <a:pPr marL="324485" lvl="1" indent="0">
              <a:spcBef>
                <a:spcPct val="20000"/>
              </a:spcBef>
              <a:spcAft>
                <a:spcPts val="600"/>
              </a:spcAft>
              <a:buNone/>
            </a:pPr>
            <a:endParaRPr lang="en-GB" sz="1200" dirty="0"/>
          </a:p>
        </p:txBody>
      </p:sp>
    </p:spTree>
    <p:extLst>
      <p:ext uri="{BB962C8B-B14F-4D97-AF65-F5344CB8AC3E}">
        <p14:creationId xmlns:p14="http://schemas.microsoft.com/office/powerpoint/2010/main" val="20413963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4292D15-41B4-89C1-0EA3-03BC9FA16F97}"/>
              </a:ext>
            </a:extLst>
          </p:cNvPr>
          <p:cNvSpPr>
            <a:spLocks noGrp="1"/>
          </p:cNvSpPr>
          <p:nvPr>
            <p:ph type="title"/>
          </p:nvPr>
        </p:nvSpPr>
        <p:spPr>
          <a:xfrm>
            <a:off x="-548" y="699528"/>
            <a:ext cx="10515600" cy="1325563"/>
          </a:xfrm>
        </p:spPr>
        <p:txBody>
          <a:bodyPr lIns="91440" tIns="45720" rIns="91440" bIns="45720" anchor="t">
            <a:normAutofit/>
          </a:bodyPr>
          <a:lstStyle/>
          <a:p>
            <a:r>
              <a:rPr lang="en-US" sz="4000" b="1" cap="all">
                <a:latin typeface="Arial"/>
                <a:cs typeface="Arial"/>
              </a:rPr>
              <a:t>System  Approach:</a:t>
            </a:r>
            <a:endParaRPr lang="en-US" sz="4000" dirty="0"/>
          </a:p>
        </p:txBody>
      </p:sp>
      <p:sp>
        <p:nvSpPr>
          <p:cNvPr id="3" name="Content Placeholder 2">
            <a:extLst>
              <a:ext uri="{FF2B5EF4-FFF2-40B4-BE49-F238E27FC236}">
                <a16:creationId xmlns:a16="http://schemas.microsoft.com/office/drawing/2014/main" id="{FE07E8EE-7F26-D809-3523-C58876935A4E}"/>
              </a:ext>
            </a:extLst>
          </p:cNvPr>
          <p:cNvSpPr>
            <a:spLocks noGrp="1"/>
          </p:cNvSpPr>
          <p:nvPr>
            <p:ph idx="1"/>
          </p:nvPr>
        </p:nvSpPr>
        <p:spPr>
          <a:xfrm>
            <a:off x="317409" y="1715586"/>
            <a:ext cx="10515600" cy="4251960"/>
          </a:xfrm>
        </p:spPr>
        <p:txBody>
          <a:bodyPr vert="horz" lIns="91440" tIns="45720" rIns="91440" bIns="45720" rtlCol="0">
            <a:normAutofit/>
          </a:bodyPr>
          <a:lstStyle/>
          <a:p>
            <a:pPr marL="0" indent="0">
              <a:spcBef>
                <a:spcPct val="20000"/>
              </a:spcBef>
              <a:spcAft>
                <a:spcPts val="600"/>
              </a:spcAft>
              <a:buNone/>
            </a:pPr>
            <a:r>
              <a:rPr lang="en-IN" sz="2200" b="1">
                <a:latin typeface="Franklin Gothic Book"/>
              </a:rPr>
              <a:t>The system follows a structured Power BI development workflow: Extract the Online Retail Excel file, Transform using Power Query Editor (remove nulls, filter cancellations, fix data types), Load into Power BI data model, then Visualize through an interactive single-page dashboard. A Revenue calculated column (Quantity x UnitPrice) is created via DAX. The approach ensures data integrity, accurate KPI measurement, and a clean professional user experience.</a:t>
            </a:r>
            <a:endParaRPr lang="en-US" sz="2200">
              <a:latin typeface="Franklin Gothic Book"/>
            </a:endParaRPr>
          </a:p>
          <a:p>
            <a:pPr marL="305435" indent="-305435">
              <a:spcBef>
                <a:spcPct val="20000"/>
              </a:spcBef>
              <a:spcAft>
                <a:spcPts val="600"/>
              </a:spcAft>
              <a:buFont typeface="Arial"/>
              <a:buChar char="•"/>
            </a:pPr>
            <a:r>
              <a:rPr lang="en-IN" sz="2200" b="1">
                <a:latin typeface="Franklin Gothic Book"/>
              </a:rPr>
              <a:t>Tools &amp; Technologies: Power BI Desktop, Power Query (M language), DAX, Microsoft Excel</a:t>
            </a:r>
            <a:endParaRPr lang="en-US" sz="2200">
              <a:latin typeface="Franklin Gothic Book"/>
            </a:endParaRPr>
          </a:p>
          <a:p>
            <a:pPr marL="305435" indent="-305435">
              <a:spcBef>
                <a:spcPct val="20000"/>
              </a:spcBef>
              <a:spcAft>
                <a:spcPts val="600"/>
              </a:spcAft>
              <a:buFont typeface="Arial"/>
              <a:buChar char="•"/>
            </a:pPr>
            <a:r>
              <a:rPr lang="en-IN" sz="2200" b="1">
                <a:latin typeface="Franklin Gothic Book"/>
              </a:rPr>
              <a:t>Dataset: UCI Online Retail Dataset — Online Retail.xlsx (541,909 rows, 8 columns, 38 countries, Dec 2010 - Dec 2011)</a:t>
            </a:r>
            <a:endParaRPr lang="en-GB" sz="2200"/>
          </a:p>
        </p:txBody>
      </p:sp>
    </p:spTree>
    <p:extLst>
      <p:ext uri="{BB962C8B-B14F-4D97-AF65-F5344CB8AC3E}">
        <p14:creationId xmlns:p14="http://schemas.microsoft.com/office/powerpoint/2010/main" val="350112512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83DBEE6-616C-2711-86DB-C62E77D17F92}"/>
              </a:ext>
            </a:extLst>
          </p:cNvPr>
          <p:cNvSpPr>
            <a:spLocks noGrp="1"/>
          </p:cNvSpPr>
          <p:nvPr>
            <p:ph type="title"/>
          </p:nvPr>
        </p:nvSpPr>
        <p:spPr>
          <a:xfrm>
            <a:off x="-1191" y="686594"/>
            <a:ext cx="10515600" cy="1325563"/>
          </a:xfrm>
        </p:spPr>
        <p:txBody>
          <a:bodyPr lIns="91440" tIns="45720" rIns="91440" bIns="45720" anchor="t">
            <a:normAutofit/>
          </a:bodyPr>
          <a:lstStyle/>
          <a:p>
            <a:r>
              <a:rPr lang="en-US" sz="4000" b="1" cap="all">
                <a:latin typeface="Arial"/>
                <a:cs typeface="Arial"/>
              </a:rPr>
              <a:t>Algorithm &amp; Deployment:</a:t>
            </a:r>
            <a:endParaRPr lang="en-US" sz="4000" dirty="0"/>
          </a:p>
        </p:txBody>
      </p:sp>
      <p:sp>
        <p:nvSpPr>
          <p:cNvPr id="3" name="Content Placeholder 2">
            <a:extLst>
              <a:ext uri="{FF2B5EF4-FFF2-40B4-BE49-F238E27FC236}">
                <a16:creationId xmlns:a16="http://schemas.microsoft.com/office/drawing/2014/main" id="{B5107410-DE3D-5F62-F9D7-11EAEA92F0BB}"/>
              </a:ext>
            </a:extLst>
          </p:cNvPr>
          <p:cNvSpPr>
            <a:spLocks noGrp="1"/>
          </p:cNvSpPr>
          <p:nvPr>
            <p:ph idx="1"/>
          </p:nvPr>
        </p:nvSpPr>
        <p:spPr>
          <a:xfrm>
            <a:off x="266700" y="1572196"/>
            <a:ext cx="10515600" cy="4251960"/>
          </a:xfrm>
        </p:spPr>
        <p:txBody>
          <a:bodyPr vert="horz" lIns="91440" tIns="45720" rIns="91440" bIns="45720" rtlCol="0">
            <a:normAutofit/>
          </a:bodyPr>
          <a:lstStyle/>
          <a:p>
            <a:pPr marL="305435" indent="-305435">
              <a:spcBef>
                <a:spcPct val="20000"/>
              </a:spcBef>
              <a:spcAft>
                <a:spcPts val="600"/>
              </a:spcAft>
              <a:buFont typeface="Arial"/>
              <a:buChar char="•"/>
            </a:pPr>
            <a:r>
              <a:rPr lang="en-IN" sz="1500">
                <a:latin typeface="Franklin Gothic Book"/>
              </a:rPr>
              <a:t>The Power BI dashboard uses DAX (Data Analysis Expressions) as the core computation engine for all KPIs and measures. Data transformation is handled via Power Query M language, and the final report is saved as a .pbix file.</a:t>
            </a:r>
          </a:p>
          <a:p>
            <a:pPr marL="305435" indent="-305435">
              <a:spcBef>
                <a:spcPct val="20000"/>
              </a:spcBef>
              <a:spcAft>
                <a:spcPts val="600"/>
              </a:spcAft>
              <a:buFont typeface="Arial"/>
              <a:buChar char="•"/>
            </a:pPr>
            <a:r>
              <a:rPr lang="en-IN" sz="1500" b="1">
                <a:latin typeface="Franklin Gothic Book"/>
              </a:rPr>
              <a:t>Algorithm Selection:</a:t>
            </a:r>
            <a:endParaRPr lang="en-IN" sz="1500">
              <a:latin typeface="Franklin Gothic Book"/>
            </a:endParaRPr>
          </a:p>
          <a:p>
            <a:pPr marL="629920" lvl="1" indent="-305435">
              <a:spcBef>
                <a:spcPct val="20000"/>
              </a:spcBef>
              <a:spcAft>
                <a:spcPts val="600"/>
              </a:spcAft>
              <a:buFont typeface="Arial"/>
              <a:buChar char="•"/>
            </a:pPr>
            <a:r>
              <a:rPr lang="en-IN" sz="1500">
                <a:latin typeface="Franklin Gothic Book"/>
              </a:rPr>
              <a:t>DAX Measures &amp; Calculated Columns: Revenue = Quantity * UnitPrice (calculated column), Total Revenue = SUM(Revenue), Total Quantity = SUM(Quantity), Unique Customers = DISTINCTCOUNT(CustomerID).</a:t>
            </a:r>
          </a:p>
          <a:p>
            <a:pPr marL="305435" indent="-305435">
              <a:spcBef>
                <a:spcPct val="20000"/>
              </a:spcBef>
              <a:spcAft>
                <a:spcPts val="600"/>
              </a:spcAft>
              <a:buFont typeface="Arial"/>
              <a:buChar char="•"/>
            </a:pPr>
            <a:r>
              <a:rPr lang="en-IN" sz="1500" b="1">
                <a:latin typeface="Franklin Gothic Book"/>
              </a:rPr>
              <a:t>Data Input:</a:t>
            </a:r>
            <a:endParaRPr lang="en-IN" sz="1500">
              <a:latin typeface="Franklin Gothic Book"/>
            </a:endParaRPr>
          </a:p>
          <a:p>
            <a:pPr marL="629920" lvl="1" indent="-305435">
              <a:spcBef>
                <a:spcPct val="20000"/>
              </a:spcBef>
              <a:spcAft>
                <a:spcPts val="600"/>
              </a:spcAft>
              <a:buFont typeface="Arial"/>
              <a:buChar char="•"/>
            </a:pPr>
            <a:r>
              <a:rPr lang="en-IN" sz="1500">
                <a:latin typeface="Franklin Gothic Book"/>
              </a:rPr>
              <a:t>Data Input: InvoiceNo, StockCode, Description, Quantity, InvoiceDate, UnitPrice, CustomerID, Country — 8 columns, 541,909 rows from UCI Machine Learning Repository.</a:t>
            </a:r>
          </a:p>
          <a:p>
            <a:pPr marL="305435" indent="-305435">
              <a:spcBef>
                <a:spcPct val="20000"/>
              </a:spcBef>
              <a:spcAft>
                <a:spcPts val="600"/>
              </a:spcAft>
              <a:buFont typeface="Arial"/>
              <a:buChar char="•"/>
            </a:pPr>
            <a:r>
              <a:rPr lang="en-IN" sz="1500" b="1">
                <a:latin typeface="Franklin Gothic Book"/>
              </a:rPr>
              <a:t>Training Process:</a:t>
            </a:r>
            <a:endParaRPr lang="en-IN" sz="1500">
              <a:latin typeface="Franklin Gothic Book"/>
            </a:endParaRPr>
          </a:p>
          <a:p>
            <a:pPr marL="629920" lvl="1" indent="-305435">
              <a:spcBef>
                <a:spcPct val="20000"/>
              </a:spcBef>
              <a:spcAft>
                <a:spcPts val="600"/>
              </a:spcAft>
              <a:buFont typeface="Arial"/>
              <a:buChar char="•"/>
            </a:pPr>
            <a:r>
              <a:rPr lang="en-IN" sz="1500">
                <a:latin typeface="Franklin Gothic Book"/>
              </a:rPr>
              <a:t>Data Transformation: Removed 135,080 rows with null CustomerID, filtered negative Quantity (cancellations/returns), changed data types, extracted Month from InvoiceDate for trend analysis.</a:t>
            </a:r>
          </a:p>
          <a:p>
            <a:pPr marL="305435" indent="-305435">
              <a:spcBef>
                <a:spcPct val="20000"/>
              </a:spcBef>
              <a:spcAft>
                <a:spcPts val="600"/>
              </a:spcAft>
              <a:buFont typeface="Arial"/>
              <a:buChar char="•"/>
            </a:pPr>
            <a:r>
              <a:rPr lang="en-IN" sz="1500" b="1">
                <a:latin typeface="Franklin Gothic Book"/>
              </a:rPr>
              <a:t>Prediction Process:</a:t>
            </a:r>
            <a:endParaRPr lang="en-IN" sz="1500">
              <a:latin typeface="Franklin Gothic Book"/>
            </a:endParaRPr>
          </a:p>
          <a:p>
            <a:pPr marL="629920" lvl="1" indent="-305435">
              <a:spcBef>
                <a:spcPct val="20000"/>
              </a:spcBef>
              <a:spcAft>
                <a:spcPts val="600"/>
              </a:spcAft>
              <a:buFont typeface="Arial"/>
              <a:buChar char="•"/>
            </a:pPr>
            <a:r>
              <a:rPr lang="en-IN" sz="1500">
                <a:latin typeface="Franklin Gothic Book"/>
              </a:rPr>
              <a:t>Deployment: Saved as OnlineRetail_Analysis.pbix. Dashboard includes 3 KPI cards (Total Revenue, Total Units Sold, Unique Customers), Monthly Revenue line chart, Top 10 Countries bar chart, Top 10 Customers bar chart, and a world map visual.</a:t>
            </a:r>
            <a:endParaRPr lang="en-GB" sz="1500"/>
          </a:p>
        </p:txBody>
      </p:sp>
    </p:spTree>
    <p:extLst>
      <p:ext uri="{BB962C8B-B14F-4D97-AF65-F5344CB8AC3E}">
        <p14:creationId xmlns:p14="http://schemas.microsoft.com/office/powerpoint/2010/main" val="119908439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98F756E-D4E1-5A9A-636A-7FA06EC394F3}"/>
              </a:ext>
            </a:extLst>
          </p:cNvPr>
          <p:cNvSpPr>
            <a:spLocks noGrp="1"/>
          </p:cNvSpPr>
          <p:nvPr>
            <p:ph type="title"/>
          </p:nvPr>
        </p:nvSpPr>
        <p:spPr>
          <a:xfrm>
            <a:off x="-1191" y="603250"/>
            <a:ext cx="10515600" cy="1325563"/>
          </a:xfrm>
        </p:spPr>
        <p:txBody>
          <a:bodyPr lIns="91440" tIns="45720" rIns="91440" bIns="45720" anchor="t">
            <a:normAutofit/>
          </a:bodyPr>
          <a:lstStyle/>
          <a:p>
            <a:r>
              <a:rPr lang="en-US" sz="4000" b="1" cap="all">
                <a:latin typeface="Arial"/>
                <a:cs typeface="Arial"/>
              </a:rPr>
              <a:t>Result:</a:t>
            </a:r>
            <a:endParaRPr lang="en-US" sz="4000" dirty="0"/>
          </a:p>
        </p:txBody>
      </p:sp>
      <p:sp>
        <p:nvSpPr>
          <p:cNvPr id="3" name="Content Placeholder 2">
            <a:extLst>
              <a:ext uri="{FF2B5EF4-FFF2-40B4-BE49-F238E27FC236}">
                <a16:creationId xmlns:a16="http://schemas.microsoft.com/office/drawing/2014/main" id="{66102C9B-C4AF-D0DB-DE74-862D9812001C}"/>
              </a:ext>
            </a:extLst>
          </p:cNvPr>
          <p:cNvSpPr>
            <a:spLocks noGrp="1"/>
          </p:cNvSpPr>
          <p:nvPr>
            <p:ph idx="1"/>
          </p:nvPr>
        </p:nvSpPr>
        <p:spPr>
          <a:xfrm>
            <a:off x="191488" y="1121782"/>
            <a:ext cx="10515600" cy="3807406"/>
          </a:xfrm>
        </p:spPr>
        <p:txBody>
          <a:bodyPr vert="horz" lIns="91440" tIns="45720" rIns="91440" bIns="45720" rtlCol="0">
            <a:normAutofit/>
          </a:bodyPr>
          <a:lstStyle/>
          <a:p>
            <a:pPr marL="0" indent="0">
              <a:buNone/>
            </a:pPr>
            <a:r>
              <a:rPr lang="en-IN" sz="1100" dirty="0">
                <a:latin typeface="Franklin Gothic Book"/>
              </a:rPr>
              <a:t>The Power BI dashboard revealed: Total Revenue = £7.92M, Total Units Sold = 5M, Unique Customers = 4,228 across Dec 2010 - Dec 2011. Revenue peaked in November 2011 (£1.1M) showing strong seasonal demand. United Kingdom dominates sales volume. Top customer (</a:t>
            </a:r>
            <a:r>
              <a:rPr lang="en-IN" sz="1100" dirty="0" err="1">
                <a:latin typeface="Franklin Gothic Book"/>
              </a:rPr>
              <a:t>CustomerID</a:t>
            </a:r>
            <a:r>
              <a:rPr lang="en-IN" sz="1100" dirty="0">
                <a:latin typeface="Franklin Gothic Book"/>
              </a:rPr>
              <a:t> 14646) generated £0.28M in revenue alone. Netherlands and EIRE are the top international markets. The world map confirms product demand is concentrated in Western Europe. The dashboard successfully transforms 541,909 raw transactions into 5 clear, interactive business insights enabling data-driven decisions.</a:t>
            </a:r>
            <a:endParaRPr lang="en-US" sz="1100" dirty="0"/>
          </a:p>
        </p:txBody>
      </p:sp>
      <p:pic>
        <p:nvPicPr>
          <p:cNvPr id="5" name="Picture 4">
            <a:extLst>
              <a:ext uri="{FF2B5EF4-FFF2-40B4-BE49-F238E27FC236}">
                <a16:creationId xmlns:a16="http://schemas.microsoft.com/office/drawing/2014/main" id="{69F4B8C9-10EA-F0F9-9191-2D03DC8C3F8C}"/>
              </a:ext>
            </a:extLst>
          </p:cNvPr>
          <p:cNvPicPr>
            <a:picLocks noChangeAspect="1"/>
          </p:cNvPicPr>
          <p:nvPr/>
        </p:nvPicPr>
        <p:blipFill>
          <a:blip r:embed="rId2"/>
          <a:stretch>
            <a:fillRect/>
          </a:stretch>
        </p:blipFill>
        <p:spPr>
          <a:xfrm>
            <a:off x="1869736" y="1928813"/>
            <a:ext cx="7522433" cy="4252822"/>
          </a:xfrm>
          <a:prstGeom prst="rect">
            <a:avLst/>
          </a:prstGeom>
        </p:spPr>
      </p:pic>
    </p:spTree>
    <p:extLst>
      <p:ext uri="{BB962C8B-B14F-4D97-AF65-F5344CB8AC3E}">
        <p14:creationId xmlns:p14="http://schemas.microsoft.com/office/powerpoint/2010/main" val="5874253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4B396BB-D4E8-514D-53F4-27AADA666CBB}"/>
              </a:ext>
            </a:extLst>
          </p:cNvPr>
          <p:cNvSpPr>
            <a:spLocks noGrp="1"/>
          </p:cNvSpPr>
          <p:nvPr>
            <p:ph type="title"/>
          </p:nvPr>
        </p:nvSpPr>
        <p:spPr>
          <a:xfrm>
            <a:off x="-548" y="606334"/>
            <a:ext cx="10515600" cy="1325563"/>
          </a:xfrm>
        </p:spPr>
        <p:txBody>
          <a:bodyPr lIns="91440" tIns="45720" rIns="91440" bIns="45720" anchor="t">
            <a:normAutofit/>
          </a:bodyPr>
          <a:lstStyle/>
          <a:p>
            <a:r>
              <a:rPr lang="en-US" sz="4000" b="1" cap="all">
                <a:latin typeface="Arial"/>
                <a:cs typeface="Arial"/>
              </a:rPr>
              <a:t>Conclusion:</a:t>
            </a:r>
            <a:endParaRPr lang="en-US" sz="4000" dirty="0"/>
          </a:p>
        </p:txBody>
      </p:sp>
      <p:sp>
        <p:nvSpPr>
          <p:cNvPr id="3" name="Content Placeholder 2">
            <a:extLst>
              <a:ext uri="{FF2B5EF4-FFF2-40B4-BE49-F238E27FC236}">
                <a16:creationId xmlns:a16="http://schemas.microsoft.com/office/drawing/2014/main" id="{21789DDB-698E-B624-5621-F9D79482FFED}"/>
              </a:ext>
            </a:extLst>
          </p:cNvPr>
          <p:cNvSpPr>
            <a:spLocks noGrp="1"/>
          </p:cNvSpPr>
          <p:nvPr>
            <p:ph idx="1"/>
          </p:nvPr>
        </p:nvSpPr>
        <p:spPr>
          <a:xfrm>
            <a:off x="262589" y="1622391"/>
            <a:ext cx="10515600" cy="4251960"/>
          </a:xfrm>
        </p:spPr>
        <p:txBody>
          <a:bodyPr vert="horz" lIns="91440" tIns="45720" rIns="91440" bIns="45720" rtlCol="0">
            <a:normAutofit/>
          </a:bodyPr>
          <a:lstStyle/>
          <a:p>
            <a:pPr marL="0" indent="0">
              <a:buNone/>
            </a:pPr>
            <a:r>
              <a:rPr lang="en-IN" sz="2200">
                <a:latin typeface="Franklin Gothic Book"/>
              </a:rPr>
              <a:t>The Online Retail Sales Analysis Power BI Dashboard successfully transformed 541,909 raw transactional records into a clean, interactive single-page report. Key findings: November 2011 is the peak revenue month (£1.1M) indicating strong pre-Christmas demand. The UK accounts for the majority of sales volume. Top 10 customers contribute disproportionately high revenue, indicating a loyal high-value customer segment. Netherlands and EIRE are the strongest international markets. Challenges included handling 24.93% missing CustomerID values and filtering cancellation records (negative quantities). The dashboard empowers management with instant visibility into revenue trends and customer behavior without manual Excel analysis.</a:t>
            </a:r>
            <a:endParaRPr lang="en-US" sz="2200"/>
          </a:p>
        </p:txBody>
      </p:sp>
    </p:spTree>
    <p:extLst>
      <p:ext uri="{BB962C8B-B14F-4D97-AF65-F5344CB8AC3E}">
        <p14:creationId xmlns:p14="http://schemas.microsoft.com/office/powerpoint/2010/main" val="224530960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D403C0-6D6C-CF0D-D01B-94F3DED1DC7F}"/>
              </a:ext>
            </a:extLst>
          </p:cNvPr>
          <p:cNvSpPr>
            <a:spLocks noGrp="1"/>
          </p:cNvSpPr>
          <p:nvPr>
            <p:ph type="title"/>
          </p:nvPr>
        </p:nvSpPr>
        <p:spPr>
          <a:xfrm>
            <a:off x="-548" y="606334"/>
            <a:ext cx="10515600" cy="1325563"/>
          </a:xfrm>
        </p:spPr>
        <p:txBody>
          <a:bodyPr lIns="91440" tIns="45720" rIns="91440" bIns="45720" anchor="t">
            <a:normAutofit/>
          </a:bodyPr>
          <a:lstStyle/>
          <a:p>
            <a:r>
              <a:rPr lang="en-US" sz="4000" b="1" cap="all">
                <a:latin typeface="Arial"/>
                <a:cs typeface="Arial"/>
              </a:rPr>
              <a:t>Future scope:</a:t>
            </a:r>
            <a:endParaRPr lang="en-US" sz="4000" dirty="0"/>
          </a:p>
        </p:txBody>
      </p:sp>
      <p:sp>
        <p:nvSpPr>
          <p:cNvPr id="3" name="Content Placeholder 2">
            <a:extLst>
              <a:ext uri="{FF2B5EF4-FFF2-40B4-BE49-F238E27FC236}">
                <a16:creationId xmlns:a16="http://schemas.microsoft.com/office/drawing/2014/main" id="{3F2C79AB-5BF9-3911-CAE8-5E44B0DF2236}"/>
              </a:ext>
            </a:extLst>
          </p:cNvPr>
          <p:cNvSpPr>
            <a:spLocks noGrp="1"/>
          </p:cNvSpPr>
          <p:nvPr>
            <p:ph idx="1"/>
          </p:nvPr>
        </p:nvSpPr>
        <p:spPr>
          <a:xfrm>
            <a:off x="268071" y="1304434"/>
            <a:ext cx="10515600" cy="4251960"/>
          </a:xfrm>
        </p:spPr>
        <p:txBody>
          <a:bodyPr vert="horz" lIns="91440" tIns="45720" rIns="91440" bIns="45720" rtlCol="0">
            <a:normAutofit/>
          </a:bodyPr>
          <a:lstStyle/>
          <a:p>
            <a:pPr marL="0" indent="0">
              <a:spcBef>
                <a:spcPct val="20000"/>
              </a:spcBef>
              <a:spcAft>
                <a:spcPts val="600"/>
              </a:spcAft>
              <a:buNone/>
            </a:pPr>
            <a:endParaRPr lang="en-US" sz="2200" dirty="0">
              <a:latin typeface="Franklin Gothic Book"/>
            </a:endParaRPr>
          </a:p>
          <a:p>
            <a:pPr marL="0" indent="0">
              <a:spcBef>
                <a:spcPct val="20000"/>
              </a:spcBef>
              <a:spcAft>
                <a:spcPts val="600"/>
              </a:spcAft>
              <a:buNone/>
            </a:pPr>
            <a:r>
              <a:rPr lang="en-US" sz="1800" dirty="0">
                <a:latin typeface="Franklin Gothic Book"/>
              </a:rPr>
              <a:t>Future enhancements include: </a:t>
            </a:r>
          </a:p>
          <a:p>
            <a:pPr marL="342900" indent="-342900">
              <a:lnSpc>
                <a:spcPct val="100000"/>
              </a:lnSpc>
              <a:spcBef>
                <a:spcPct val="20000"/>
              </a:spcBef>
              <a:spcAft>
                <a:spcPts val="600"/>
              </a:spcAft>
              <a:buAutoNum type="arabicParenBoth"/>
            </a:pPr>
            <a:r>
              <a:rPr lang="en-US" sz="1800" dirty="0">
                <a:latin typeface="Franklin Gothic Book"/>
              </a:rPr>
              <a:t>Adding a second dashboard page for Product-level analysis — top selling </a:t>
            </a:r>
            <a:r>
              <a:rPr lang="en-US" sz="1800" dirty="0" err="1">
                <a:latin typeface="Franklin Gothic Book"/>
              </a:rPr>
              <a:t>StockCodes</a:t>
            </a:r>
            <a:r>
              <a:rPr lang="en-US" sz="1800" dirty="0">
                <a:latin typeface="Franklin Gothic Book"/>
              </a:rPr>
              <a:t>, revenue by product description, and return rate by product. </a:t>
            </a:r>
          </a:p>
          <a:p>
            <a:pPr marL="0" indent="0">
              <a:lnSpc>
                <a:spcPct val="100000"/>
              </a:lnSpc>
              <a:spcBef>
                <a:spcPct val="20000"/>
              </a:spcBef>
              <a:spcAft>
                <a:spcPts val="600"/>
              </a:spcAft>
              <a:buNone/>
            </a:pPr>
            <a:r>
              <a:rPr lang="en-US" sz="1800" dirty="0">
                <a:latin typeface="Franklin Gothic Book"/>
              </a:rPr>
              <a:t>(2) Building a Customer Segmentation page using RFM (Recency, Frequency, Monetary) analysis to classify          customers into High, Medium, and Low value tiers. </a:t>
            </a:r>
          </a:p>
          <a:p>
            <a:pPr marL="0" indent="0">
              <a:lnSpc>
                <a:spcPct val="100000"/>
              </a:lnSpc>
              <a:spcBef>
                <a:spcPct val="20000"/>
              </a:spcBef>
              <a:spcAft>
                <a:spcPts val="600"/>
              </a:spcAft>
              <a:buNone/>
            </a:pPr>
            <a:r>
              <a:rPr lang="en-US" sz="1800" dirty="0">
                <a:latin typeface="Franklin Gothic Book"/>
              </a:rPr>
              <a:t>(3) Integrating a cancellation analysis visual to track return rates by country and month. </a:t>
            </a:r>
          </a:p>
          <a:p>
            <a:pPr marL="0" indent="0">
              <a:lnSpc>
                <a:spcPct val="100000"/>
              </a:lnSpc>
              <a:spcBef>
                <a:spcPct val="20000"/>
              </a:spcBef>
              <a:spcAft>
                <a:spcPts val="600"/>
              </a:spcAft>
              <a:buNone/>
            </a:pPr>
            <a:r>
              <a:rPr lang="en-US" sz="1800" dirty="0">
                <a:latin typeface="Franklin Gothic Book"/>
              </a:rPr>
              <a:t>(4) Connecting to a live database via Power BI Dataflows for real-time sales monitoring. </a:t>
            </a:r>
          </a:p>
          <a:p>
            <a:pPr marL="0" indent="0">
              <a:lnSpc>
                <a:spcPct val="100000"/>
              </a:lnSpc>
              <a:spcBef>
                <a:spcPct val="20000"/>
              </a:spcBef>
              <a:spcAft>
                <a:spcPts val="600"/>
              </a:spcAft>
              <a:buNone/>
            </a:pPr>
            <a:r>
              <a:rPr lang="en-US" sz="1800" dirty="0">
                <a:latin typeface="Franklin Gothic Book"/>
              </a:rPr>
              <a:t>(5) Adding forecasting visuals using Power BI built-in Analytics pane to predict next 3 months revenue. </a:t>
            </a:r>
          </a:p>
          <a:p>
            <a:pPr marL="0" indent="0">
              <a:spcBef>
                <a:spcPct val="20000"/>
              </a:spcBef>
              <a:spcAft>
                <a:spcPts val="600"/>
              </a:spcAft>
              <a:buNone/>
            </a:pPr>
            <a:r>
              <a:rPr lang="en-US" sz="1800" dirty="0">
                <a:latin typeface="Franklin Gothic Book"/>
              </a:rPr>
              <a:t>(6) Deploying to Power BI Service for mobile access and scheduled daily data refresh.</a:t>
            </a:r>
            <a:endParaRPr lang="en-GB" sz="1800" dirty="0"/>
          </a:p>
          <a:p>
            <a:pPr marL="0" indent="0">
              <a:buNone/>
            </a:pPr>
            <a:endParaRPr lang="en-GB" sz="2200" dirty="0"/>
          </a:p>
        </p:txBody>
      </p:sp>
    </p:spTree>
    <p:extLst>
      <p:ext uri="{BB962C8B-B14F-4D97-AF65-F5344CB8AC3E}">
        <p14:creationId xmlns:p14="http://schemas.microsoft.com/office/powerpoint/2010/main" val="374419967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49D7BEC-26CE-96DB-DC10-B2897FA510E0}"/>
              </a:ext>
            </a:extLst>
          </p:cNvPr>
          <p:cNvSpPr>
            <a:spLocks noGrp="1"/>
          </p:cNvSpPr>
          <p:nvPr>
            <p:ph type="title"/>
          </p:nvPr>
        </p:nvSpPr>
        <p:spPr>
          <a:xfrm>
            <a:off x="-548" y="606334"/>
            <a:ext cx="10515600" cy="1325563"/>
          </a:xfrm>
        </p:spPr>
        <p:txBody>
          <a:bodyPr lIns="91440" tIns="45720" rIns="91440" bIns="45720" anchor="t">
            <a:normAutofit/>
          </a:bodyPr>
          <a:lstStyle/>
          <a:p>
            <a:r>
              <a:rPr lang="en-US" sz="4000" b="1" cap="all">
                <a:latin typeface="Arial"/>
                <a:cs typeface="Arial"/>
              </a:rPr>
              <a:t>References:</a:t>
            </a:r>
            <a:endParaRPr lang="en-US" sz="4000"/>
          </a:p>
        </p:txBody>
      </p:sp>
      <p:sp>
        <p:nvSpPr>
          <p:cNvPr id="3" name="Content Placeholder 2">
            <a:extLst>
              <a:ext uri="{FF2B5EF4-FFF2-40B4-BE49-F238E27FC236}">
                <a16:creationId xmlns:a16="http://schemas.microsoft.com/office/drawing/2014/main" id="{5E6198D1-2392-A218-1A4C-10F40FCB8253}"/>
              </a:ext>
            </a:extLst>
          </p:cNvPr>
          <p:cNvSpPr>
            <a:spLocks noGrp="1"/>
          </p:cNvSpPr>
          <p:nvPr>
            <p:ph idx="1"/>
          </p:nvPr>
        </p:nvSpPr>
        <p:spPr>
          <a:xfrm>
            <a:off x="196804" y="1551125"/>
            <a:ext cx="10515600" cy="4251960"/>
          </a:xfrm>
        </p:spPr>
        <p:txBody>
          <a:bodyPr vert="horz" lIns="91440" tIns="45720" rIns="91440" bIns="45720" rtlCol="0" anchor="t">
            <a:normAutofit/>
          </a:bodyPr>
          <a:lstStyle/>
          <a:p>
            <a:pPr marL="0" indent="0">
              <a:buNone/>
            </a:pPr>
            <a:r>
              <a:rPr lang="en-IN" sz="2200" dirty="0">
                <a:latin typeface="Franklin Gothic Book"/>
              </a:rPr>
              <a:t>1. UCI Machine Learning Repository - Online Retail Dataset by Dr. Daqing Chen (https://archive.ics.uci.edu/dataset/352/online+retail). 2. Microsoft Power BI Documentation - docs.microsoft.com/</a:t>
            </a:r>
            <a:r>
              <a:rPr lang="en-IN" sz="2200" dirty="0" err="1">
                <a:latin typeface="Franklin Gothic Book"/>
              </a:rPr>
              <a:t>en</a:t>
            </a:r>
            <a:r>
              <a:rPr lang="en-IN" sz="2200" dirty="0">
                <a:latin typeface="Franklin Gothic Book"/>
              </a:rPr>
              <a:t>-us/power-bi. 3. DAX Guide - </a:t>
            </a:r>
            <a:r>
              <a:rPr lang="en-IN" sz="2200" dirty="0" err="1">
                <a:latin typeface="Franklin Gothic Book"/>
              </a:rPr>
              <a:t>dax.guide</a:t>
            </a:r>
            <a:r>
              <a:rPr lang="en-IN" sz="2200" dirty="0">
                <a:latin typeface="Franklin Gothic Book"/>
              </a:rPr>
              <a:t>. 4. Power Query M Language Reference - docs.microsoft.com/power-query. 5. Guy in a Cube YouTube Channel - Power BI best practices and tutorials. 6. Microsoft Learn - Power BI Data Analyst (PL-300) certification course materials.</a:t>
            </a:r>
            <a:endParaRPr lang="en-US" sz="2200" dirty="0">
              <a:latin typeface="Aptos" panose="020B0004020202020204"/>
            </a:endParaRPr>
          </a:p>
          <a:p>
            <a:pPr marL="0" indent="0">
              <a:buNone/>
            </a:pPr>
            <a:r>
              <a:rPr lang="en-IN" sz="2200" dirty="0">
                <a:latin typeface="Franklin Gothic Book"/>
              </a:rPr>
              <a:t>GitHub Link:</a:t>
            </a:r>
            <a:r>
              <a:rPr lang="en-IN" sz="2200" dirty="0">
                <a:solidFill>
                  <a:srgbClr val="0070C0"/>
                </a:solidFill>
                <a:latin typeface="Franklin Gothic Book"/>
              </a:rPr>
              <a:t> </a:t>
            </a:r>
            <a:r>
              <a:rPr lang="en-IN" sz="2200" u="sng" dirty="0">
                <a:solidFill>
                  <a:srgbClr val="0070C0"/>
                </a:solidFill>
                <a:latin typeface="Franklin Gothic Book"/>
              </a:rPr>
              <a:t>https://github.com/Prathmeshkangane/Online-Retail-Analysis.git</a:t>
            </a:r>
          </a:p>
          <a:p>
            <a:pPr marL="0" indent="0">
              <a:buNone/>
            </a:pPr>
            <a:endParaRPr lang="en-IN" sz="2200" u="sng" dirty="0">
              <a:solidFill>
                <a:srgbClr val="0070C0"/>
              </a:solidFill>
              <a:latin typeface="Franklin Gothic Book"/>
            </a:endParaRPr>
          </a:p>
          <a:p>
            <a:pPr marL="0" indent="0">
              <a:buNone/>
            </a:pPr>
            <a:endParaRPr lang="en-IN" sz="2200" dirty="0">
              <a:latin typeface="Franklin Gothic Book"/>
            </a:endParaRPr>
          </a:p>
        </p:txBody>
      </p:sp>
    </p:spTree>
    <p:extLst>
      <p:ext uri="{BB962C8B-B14F-4D97-AF65-F5344CB8AC3E}">
        <p14:creationId xmlns:p14="http://schemas.microsoft.com/office/powerpoint/2010/main" val="169170067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D143E5-DB51-E32C-9252-0ED5EF288497}"/>
            </a:ext>
          </a:extLst>
        </p:cNvPr>
        <p:cNvGrpSpPr/>
        <p:nvPr/>
      </p:nvGrpSpPr>
      <p:grpSpPr>
        <a:xfrm>
          <a:off x="0" y="0"/>
          <a:ext cx="0" cy="0"/>
          <a:chOff x="0" y="0"/>
          <a:chExt cx="0" cy="0"/>
        </a:xfrm>
      </p:grpSpPr>
      <p:sp>
        <p:nvSpPr>
          <p:cNvPr id="7" name="Text Placeholder 4">
            <a:extLst>
              <a:ext uri="{FF2B5EF4-FFF2-40B4-BE49-F238E27FC236}">
                <a16:creationId xmlns:a16="http://schemas.microsoft.com/office/drawing/2014/main" id="{DE97B5AD-3B10-086C-32EF-8A2EAD5287C2}"/>
              </a:ext>
            </a:extLst>
          </p:cNvPr>
          <p:cNvSpPr txBox="1">
            <a:spLocks/>
          </p:cNvSpPr>
          <p:nvPr/>
        </p:nvSpPr>
        <p:spPr>
          <a:xfrm>
            <a:off x="314324" y="6312352"/>
            <a:ext cx="3724275" cy="295275"/>
          </a:xfrm>
          <a:prstGeom prst="rect">
            <a:avLst/>
          </a:prstGeom>
        </p:spPr>
        <p:txBody>
          <a:bodyPr/>
          <a:lstStyle>
            <a:lvl1pPr marL="228611" indent="-228611" algn="l" defTabSz="609630" rtl="0" eaLnBrk="1" latinLnBrk="0" hangingPunct="1">
              <a:spcBef>
                <a:spcPct val="20000"/>
              </a:spcBef>
              <a:buFont typeface="Arial" pitchFamily="34" charset="0"/>
              <a:buChar char="•"/>
              <a:defRPr sz="2133" kern="1200">
                <a:solidFill>
                  <a:schemeClr val="tx1"/>
                </a:solidFill>
                <a:latin typeface="+mn-lt"/>
                <a:ea typeface="+mn-ea"/>
                <a:cs typeface="+mn-cs"/>
              </a:defRPr>
            </a:lvl1pPr>
            <a:lvl2pPr marL="495325" indent="-190510" algn="l" defTabSz="609630" rtl="0" eaLnBrk="1" latinLnBrk="0" hangingPunct="1">
              <a:spcBef>
                <a:spcPct val="20000"/>
              </a:spcBef>
              <a:buFont typeface="Arial" pitchFamily="34" charset="0"/>
              <a:buChar char="–"/>
              <a:defRPr sz="1867" kern="1200">
                <a:solidFill>
                  <a:schemeClr val="tx1"/>
                </a:solidFill>
                <a:latin typeface="+mn-lt"/>
                <a:ea typeface="+mn-ea"/>
                <a:cs typeface="+mn-cs"/>
              </a:defRPr>
            </a:lvl2pPr>
            <a:lvl3pPr marL="762038" indent="-152408" algn="l" defTabSz="609630" rtl="0" eaLnBrk="1" latinLnBrk="0" hangingPunct="1">
              <a:spcBef>
                <a:spcPct val="20000"/>
              </a:spcBef>
              <a:buFont typeface="Arial" pitchFamily="34" charset="0"/>
              <a:buChar char="•"/>
              <a:defRPr sz="1600" kern="1200">
                <a:solidFill>
                  <a:schemeClr val="tx1"/>
                </a:solidFill>
                <a:latin typeface="+mn-lt"/>
                <a:ea typeface="+mn-ea"/>
                <a:cs typeface="+mn-cs"/>
              </a:defRPr>
            </a:lvl3pPr>
            <a:lvl4pPr marL="1066853" indent="-152408" algn="l" defTabSz="609630" rtl="0" eaLnBrk="1" latinLnBrk="0" hangingPunct="1">
              <a:spcBef>
                <a:spcPct val="20000"/>
              </a:spcBef>
              <a:buFont typeface="Arial" pitchFamily="34" charset="0"/>
              <a:buChar char="–"/>
              <a:defRPr sz="1333" kern="1200">
                <a:solidFill>
                  <a:schemeClr val="tx1"/>
                </a:solidFill>
                <a:latin typeface="+mn-lt"/>
                <a:ea typeface="+mn-ea"/>
                <a:cs typeface="+mn-cs"/>
              </a:defRPr>
            </a:lvl4pPr>
            <a:lvl5pPr marL="1371669" indent="-152408" algn="l" defTabSz="609630" rtl="0" eaLnBrk="1" latinLnBrk="0" hangingPunct="1">
              <a:spcBef>
                <a:spcPct val="20000"/>
              </a:spcBef>
              <a:buFont typeface="Arial" pitchFamily="34" charset="0"/>
              <a:buChar char="»"/>
              <a:defRPr sz="1333" kern="1200">
                <a:solidFill>
                  <a:schemeClr val="tx1"/>
                </a:solidFill>
                <a:latin typeface="+mn-lt"/>
                <a:ea typeface="+mn-ea"/>
                <a:cs typeface="+mn-cs"/>
              </a:defRPr>
            </a:lvl5pPr>
            <a:lvl6pPr marL="1676484" indent="-152408" algn="l" defTabSz="609630" rtl="0" eaLnBrk="1" latinLnBrk="0" hangingPunct="1">
              <a:spcBef>
                <a:spcPct val="20000"/>
              </a:spcBef>
              <a:buFont typeface="Arial" pitchFamily="34" charset="0"/>
              <a:buChar char="•"/>
              <a:defRPr sz="1333" kern="1200">
                <a:solidFill>
                  <a:schemeClr val="tx1"/>
                </a:solidFill>
                <a:latin typeface="+mn-lt"/>
                <a:ea typeface="+mn-ea"/>
                <a:cs typeface="+mn-cs"/>
              </a:defRPr>
            </a:lvl6pPr>
            <a:lvl7pPr marL="1981299" indent="-152408" algn="l" defTabSz="609630" rtl="0" eaLnBrk="1" latinLnBrk="0" hangingPunct="1">
              <a:spcBef>
                <a:spcPct val="20000"/>
              </a:spcBef>
              <a:buFont typeface="Arial" pitchFamily="34" charset="0"/>
              <a:buChar char="•"/>
              <a:defRPr sz="1333" kern="1200">
                <a:solidFill>
                  <a:schemeClr val="tx1"/>
                </a:solidFill>
                <a:latin typeface="+mn-lt"/>
                <a:ea typeface="+mn-ea"/>
                <a:cs typeface="+mn-cs"/>
              </a:defRPr>
            </a:lvl7pPr>
            <a:lvl8pPr marL="2286114" indent="-152408" algn="l" defTabSz="609630" rtl="0" eaLnBrk="1" latinLnBrk="0" hangingPunct="1">
              <a:spcBef>
                <a:spcPct val="20000"/>
              </a:spcBef>
              <a:buFont typeface="Arial" pitchFamily="34" charset="0"/>
              <a:buChar char="•"/>
              <a:defRPr sz="1333" kern="1200">
                <a:solidFill>
                  <a:schemeClr val="tx1"/>
                </a:solidFill>
                <a:latin typeface="+mn-lt"/>
                <a:ea typeface="+mn-ea"/>
                <a:cs typeface="+mn-cs"/>
              </a:defRPr>
            </a:lvl8pPr>
            <a:lvl9pPr marL="2590930" indent="-152408" algn="l" defTabSz="609630" rtl="0" eaLnBrk="1" latinLnBrk="0" hangingPunct="1">
              <a:spcBef>
                <a:spcPct val="20000"/>
              </a:spcBef>
              <a:buFont typeface="Arial" pitchFamily="34" charset="0"/>
              <a:buChar char="•"/>
              <a:defRPr sz="1333" kern="1200">
                <a:solidFill>
                  <a:schemeClr val="tx1"/>
                </a:solidFill>
                <a:latin typeface="+mn-lt"/>
                <a:ea typeface="+mn-ea"/>
                <a:cs typeface="+mn-cs"/>
              </a:defRPr>
            </a:lvl9pPr>
          </a:lstStyle>
          <a:p>
            <a:pPr marL="173736" indent="-173736">
              <a:buFont typeface="Arial" pitchFamily="34" charset="0"/>
              <a:buNone/>
            </a:pPr>
            <a:endParaRPr lang="en-US" sz="1400">
              <a:latin typeface="Arial" panose="020B0604020202020204" pitchFamily="34" charset="0"/>
              <a:cs typeface="Arial" panose="020B0604020202020204" pitchFamily="34" charset="0"/>
            </a:endParaRPr>
          </a:p>
        </p:txBody>
      </p:sp>
      <p:sp>
        <p:nvSpPr>
          <p:cNvPr id="2" name="Title 3">
            <a:extLst>
              <a:ext uri="{FF2B5EF4-FFF2-40B4-BE49-F238E27FC236}">
                <a16:creationId xmlns:a16="http://schemas.microsoft.com/office/drawing/2014/main" id="{AFC7433E-E155-E68D-4C00-FCB38967C6F9}"/>
              </a:ext>
            </a:extLst>
          </p:cNvPr>
          <p:cNvSpPr txBox="1">
            <a:spLocks/>
          </p:cNvSpPr>
          <p:nvPr/>
        </p:nvSpPr>
        <p:spPr>
          <a:xfrm>
            <a:off x="3247621" y="3009471"/>
            <a:ext cx="5696757" cy="839057"/>
          </a:xfrm>
          <a:prstGeom prst="rect">
            <a:avLst/>
          </a:prstGeom>
        </p:spPr>
        <p:txBody>
          <a:bodyPr lIns="91440" tIns="45720" rIns="91440" bIns="45720" anchor="t"/>
          <a:lstStyle>
            <a:lvl1pPr algn="ctr" defTabSz="609630" rtl="0" eaLnBrk="1" latinLnBrk="0" hangingPunct="1">
              <a:spcBef>
                <a:spcPct val="0"/>
              </a:spcBef>
              <a:buNone/>
              <a:defRPr sz="2933" kern="1200">
                <a:solidFill>
                  <a:schemeClr val="tx1"/>
                </a:solidFill>
                <a:latin typeface="+mj-lt"/>
                <a:ea typeface="+mj-ea"/>
                <a:cs typeface="+mj-cs"/>
              </a:defRPr>
            </a:lvl1pPr>
          </a:lstStyle>
          <a:p>
            <a:r>
              <a:rPr lang="en-US" sz="4800" b="1">
                <a:solidFill>
                  <a:srgbClr val="002060"/>
                </a:solidFill>
                <a:latin typeface="Arial"/>
                <a:cs typeface="Arial"/>
              </a:rPr>
              <a:t>Thank You</a:t>
            </a:r>
          </a:p>
        </p:txBody>
      </p:sp>
    </p:spTree>
    <p:custDataLst>
      <p:tags r:id="rId1"/>
    </p:custDataLst>
    <p:extLst>
      <p:ext uri="{BB962C8B-B14F-4D97-AF65-F5344CB8AC3E}">
        <p14:creationId xmlns:p14="http://schemas.microsoft.com/office/powerpoint/2010/main" val="2544602034"/>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ARTICULATE_DESIGN_ID_1_OFFICE THEME" val="TmdBxN3j"/>
  <p:tag name="ARTICULATE_PROJECT_OPEN" val="0"/>
  <p:tag name="ARTICULATE_SLIDE_COUNT" val="9"/>
</p:tagLst>
</file>

<file path=ppt/tags/tag2.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3.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4.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5.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heme/theme1.xml><?xml version="1.0" encoding="utf-8"?>
<a:theme xmlns:a="http://schemas.openxmlformats.org/drawingml/2006/main" name="1_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Custom Design">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42</TotalTime>
  <Words>1301</Words>
  <Application>Microsoft Office PowerPoint</Application>
  <PresentationFormat>Widescreen</PresentationFormat>
  <Paragraphs>68</Paragraphs>
  <Slides>11</Slides>
  <Notes>2</Notes>
  <HiddenSlides>0</HiddenSlides>
  <MMClips>0</MMClips>
  <ScaleCrop>false</ScaleCrop>
  <HeadingPairs>
    <vt:vector size="6" baseType="variant">
      <vt:variant>
        <vt:lpstr>Fonts Used</vt:lpstr>
      </vt:variant>
      <vt:variant>
        <vt:i4>4</vt:i4>
      </vt:variant>
      <vt:variant>
        <vt:lpstr>Theme</vt:lpstr>
      </vt:variant>
      <vt:variant>
        <vt:i4>2</vt:i4>
      </vt:variant>
      <vt:variant>
        <vt:lpstr>Slide Titles</vt:lpstr>
      </vt:variant>
      <vt:variant>
        <vt:i4>11</vt:i4>
      </vt:variant>
    </vt:vector>
  </HeadingPairs>
  <TitlesOfParts>
    <vt:vector size="17" baseType="lpstr">
      <vt:lpstr>Aptos</vt:lpstr>
      <vt:lpstr>Arial</vt:lpstr>
      <vt:lpstr>Calibri</vt:lpstr>
      <vt:lpstr>Franklin Gothic Book</vt:lpstr>
      <vt:lpstr>1_Office Theme</vt:lpstr>
      <vt:lpstr>Custom Design</vt:lpstr>
      <vt:lpstr>PowerPoint Presentation</vt:lpstr>
      <vt:lpstr>OUTLINE:</vt:lpstr>
      <vt:lpstr>Problem Statement:</vt:lpstr>
      <vt:lpstr>Proposed Solution:</vt:lpstr>
      <vt:lpstr>System  Approach:</vt:lpstr>
      <vt:lpstr>Algorithm &amp; Deployment:</vt:lpstr>
      <vt:lpstr>Result:</vt:lpstr>
      <vt:lpstr>Conclusion:</vt:lpstr>
      <vt:lpstr>Future scope:</vt:lpstr>
      <vt:lpstr>References:</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Vikrant Nath Nagar</dc:creator>
  <cp:lastModifiedBy>Prathmesh Kangane</cp:lastModifiedBy>
  <cp:revision>108</cp:revision>
  <dcterms:created xsi:type="dcterms:W3CDTF">2024-05-21T11:55:07Z</dcterms:created>
  <dcterms:modified xsi:type="dcterms:W3CDTF">2026-03-15T09:42:17Z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rticulateGUID">
    <vt:lpwstr>8775663C-0243-495A-BCAB-F653BDE41EC7</vt:lpwstr>
  </property>
  <property fmtid="{D5CDD505-2E9C-101B-9397-08002B2CF9AE}" pid="3" name="ArticulatePath">
    <vt:lpwstr>https://edunetfoundationorg-my.sharepoint.com/personal/kaisar_edunetfoundation_org/Documents/Beutified ppt/MSITI/Micro Degree/Content/Module 4 Data Science/PPT/1. Introduction to Data Science</vt:lpwstr>
  </property>
</Properties>
</file>