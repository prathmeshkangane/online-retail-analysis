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89" d="100"/>
          <a:sy n="89" d="100"/>
        </p:scale>
        <p:origin x="437"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  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  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434213" y="480395"/>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kern="1200" dirty="0">
                <a:latin typeface="+mj-lt"/>
                <a:ea typeface="+mj-ea"/>
                <a:cs typeface="+mj-cs"/>
              </a:rPr>
              <a:t>CAPSTONE </a:t>
            </a:r>
            <a:r>
              <a:rPr lang="en-US" sz="3200" b="1" dirty="0"/>
              <a:t>PROJECT</a:t>
            </a:r>
            <a:endParaRPr lang="en-US" sz="5400" dirty="0">
              <a:latin typeface="Aptos"/>
            </a:endParaRPr>
          </a:p>
          <a:p>
            <a:pPr algn="l"/>
            <a:br>
              <a:rPr lang="en-US" sz="2400" b="1" dirty="0"/>
            </a:br>
            <a:r>
              <a:rPr lang="en-US" sz="2400" b="1" cap="all" dirty="0">
                <a:latin typeface="Aptos"/>
              </a:rPr>
              <a:t>ONLINE RETAIL SALES ANALYSIS</a:t>
            </a:r>
            <a:endParaRPr lang="en-US" sz="2400" dirty="0">
              <a:latin typeface="Aptos"/>
            </a:endParaRPr>
          </a:p>
          <a:p>
            <a:pPr algn="l"/>
            <a:endParaRPr lang="en-US" sz="54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200" b="1" cap="all" dirty="0"/>
              <a:t>Presented By: Prathmesh </a:t>
            </a:r>
            <a:r>
              <a:rPr lang="en-US" sz="1200" b="1" cap="all" dirty="0" err="1"/>
              <a:t>kangane</a:t>
            </a:r>
            <a:endParaRPr lang="en-US" sz="1200" cap="all" dirty="0"/>
          </a:p>
          <a:p>
            <a:pPr algn="l">
              <a:spcAft>
                <a:spcPts val="600"/>
              </a:spcAft>
            </a:pPr>
            <a:r>
              <a:rPr lang="en-US" sz="1200" b="1" cap="all" dirty="0"/>
              <a:t>Student Name: Prathmesh </a:t>
            </a:r>
            <a:r>
              <a:rPr lang="en-US" sz="1200" b="1" cap="all" dirty="0" err="1"/>
              <a:t>kangane</a:t>
            </a:r>
            <a:endParaRPr lang="en-US" sz="1200" b="1" cap="all" dirty="0"/>
          </a:p>
          <a:p>
            <a:pPr algn="l">
              <a:spcAft>
                <a:spcPts val="600"/>
              </a:spcAft>
            </a:pPr>
            <a:r>
              <a:rPr lang="en-US" sz="1200" b="1" cap="all" dirty="0"/>
              <a:t>College Name: Saraswati college of engineering</a:t>
            </a:r>
          </a:p>
          <a:p>
            <a:pPr algn="l">
              <a:spcAft>
                <a:spcPts val="600"/>
              </a:spcAft>
            </a:pPr>
            <a:r>
              <a:rPr lang="en-US" sz="1200" b="1" cap="all" dirty="0"/>
              <a:t>Department: </a:t>
            </a:r>
            <a:r>
              <a:rPr lang="en-US" sz="1200" b="1" cap="all" dirty="0" err="1"/>
              <a:t>cse-aiml</a:t>
            </a:r>
            <a:endParaRPr lang="en-US" sz="1200" b="1" cap="all" dirty="0"/>
          </a:p>
          <a:p>
            <a:pPr algn="l">
              <a:spcAft>
                <a:spcPts val="600"/>
              </a:spcAft>
            </a:pPr>
            <a:r>
              <a:rPr lang="en-US" sz="1200" b="1" cap="all" dirty="0"/>
              <a:t>Email ID: Prathmesh.kangane2003@gmail.com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538823" y="181435"/>
            <a:ext cx="3812055" cy="5718084"/>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IN" sz="2200">
                <a:latin typeface="Franklin Gothic Book"/>
              </a:rPr>
              <a:t>A UK-based non-store online retailer operating between December 2010 and December 2011 generates thousands of daily transactions across 38 countries. However, business managers lack a unified view of revenue trends, customer purchasing behavior, and product demand by region. Raw transactional data in Excel format makes it impossible to identify top customers, peak revenue months, or high-demand markets without manual effort. The core challenge is to build an end-to-end Power BI dashboard that transforms the UCI Online Retail dataset into an interactive, insight-driven report — enabling management to track Total Revenue, Units Sold, Customer Count, monthly trends, and geographic demand patterns through a single consolidated view.</a:t>
            </a:r>
            <a:endParaRPr lang="en-US" sz="220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IN" sz="1200" b="1" dirty="0">
                <a:latin typeface="Calibri"/>
                <a:ea typeface="Calibri"/>
                <a:cs typeface="Calibri"/>
              </a:rPr>
              <a:t>The proposed solution is a single-page interactive Power BI dashboard built on the UCI Online Retail dataset (541,909 transactions across 38 countries, Dec 2010 - Dec 2011). It delivers real-time visibility into revenue trends, customer behavior, and product demand by geography. The solution consists of the following components:</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Collection:</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Imported the Online Retail Excel file into Power BI Desktop — 541,909 rows with 8 columns: InvoiceNo, StockCode, Description, Quantity, InvoiceDate, UnitPrice, CustomerID, Country.</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Verified data types for all columns — set InvoiceDate as Date/Time, Quantity and UnitPrice as Decimal Number.</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Preprocessing:</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Removed rows with null CustomerID (24.93% of rows), filtered out negative Quantity values (cancellations), and removed test/blank entries using Power Query Editor.</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Created a calculated column: Revenue = Quantity * UnitPrice using DAX in the Modeling tab.</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Machine Learning Algorithm:</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Extracted Month from InvoiceDate using Power Query date functions for the Monthly Revenue Trend line chart.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Applied DAX measures: Total Revenue = SUM(Revenue), Total Quantity = SUM(Quantity), Unique Customers = DISTINCTCOUNT(CustomerID).</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Deployment: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Designed a single-page dashboard with 3 KPI cards at top, Monthly Revenue line chart, Top 10 Countries bar chart, Top 10 Customers bar chart, and a Product Demand world map.</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Applied Top N filters (Top 10) on Country and CustomerID visuals, excluded UK from country chart and blanks from customer chart for cleaner insights.</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Evaluation:</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Validated KPI card values against Excel pivot table totals to confirm Revenue, Quantity, and Customer Count accuracy.</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Applied Power BI theme for consistent color styling and renamed all auto-generated titles to business-friendly labels.</a:t>
            </a:r>
            <a:endParaRPr lang="en-IN" sz="1200" dirty="0">
              <a:latin typeface="Calibri"/>
              <a:ea typeface="Calibri"/>
              <a:cs typeface="Calibri"/>
            </a:endParaRPr>
          </a:p>
          <a:p>
            <a:pPr marL="324485" lvl="1" indent="0">
              <a:spcBef>
                <a:spcPct val="20000"/>
              </a:spcBef>
              <a:spcAft>
                <a:spcPts val="600"/>
              </a:spcAft>
              <a:buNone/>
            </a:pP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marL="0" indent="0">
              <a:spcBef>
                <a:spcPct val="20000"/>
              </a:spcBef>
              <a:spcAft>
                <a:spcPts val="600"/>
              </a:spcAft>
              <a:buNone/>
            </a:pPr>
            <a:r>
              <a:rPr lang="en-IN" sz="2200" b="1">
                <a:latin typeface="Franklin Gothic Book"/>
              </a:rPr>
              <a:t>The system follows a structured Power BI development workflow: Extract the Online Retail Excel file, Transform using Power Query Editor (remove nulls, filter cancellations, fix data types), Load into Power BI data model, then Visualize through an interactive single-page dashboard. A Revenue calculated column (Quantity x UnitPrice) is created via DAX. The approach ensures data integrity, accurate KPI measurement, and a clean professional user experience.</a:t>
            </a:r>
            <a:endParaRPr lang="en-US" sz="2200">
              <a:latin typeface="Franklin Gothic Book"/>
            </a:endParaRPr>
          </a:p>
          <a:p>
            <a:pPr marL="305435" indent="-305435">
              <a:spcBef>
                <a:spcPct val="20000"/>
              </a:spcBef>
              <a:spcAft>
                <a:spcPts val="600"/>
              </a:spcAft>
              <a:buFont typeface="Arial"/>
              <a:buChar char="•"/>
            </a:pPr>
            <a:r>
              <a:rPr lang="en-IN" sz="2200" b="1">
                <a:latin typeface="Franklin Gothic Book"/>
              </a:rPr>
              <a:t>Tools &amp; Technologies: Power BI Desktop, Power Query (M language), DAX, Microsoft Excel</a:t>
            </a:r>
            <a:endParaRPr lang="en-US" sz="2200">
              <a:latin typeface="Franklin Gothic Book"/>
            </a:endParaRPr>
          </a:p>
          <a:p>
            <a:pPr marL="305435" indent="-305435">
              <a:spcBef>
                <a:spcPct val="20000"/>
              </a:spcBef>
              <a:spcAft>
                <a:spcPts val="600"/>
              </a:spcAft>
              <a:buFont typeface="Arial"/>
              <a:buChar char="•"/>
            </a:pPr>
            <a:r>
              <a:rPr lang="en-IN" sz="2200" b="1">
                <a:latin typeface="Franklin Gothic Book"/>
              </a:rPr>
              <a:t>Dataset: UCI Online Retail Dataset — Online Retail.xlsx (541,909 rows, 8 columns, 38 countries, Dec 2010 - Dec 2011)</a:t>
            </a:r>
            <a:endParaRPr lang="en-GB" sz="220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marL="305435" indent="-305435">
              <a:spcBef>
                <a:spcPct val="20000"/>
              </a:spcBef>
              <a:spcAft>
                <a:spcPts val="600"/>
              </a:spcAft>
              <a:buFont typeface="Arial"/>
              <a:buChar char="•"/>
            </a:pPr>
            <a:r>
              <a:rPr lang="en-IN" sz="1500">
                <a:latin typeface="Franklin Gothic Book"/>
              </a:rPr>
              <a:t>The Power BI dashboard uses DAX (Data Analysis Expressions) as the core computation engine for all KPIs and measures. Data transformation is handled via Power Query M language, and the final report is saved as a .pbix file.</a:t>
            </a:r>
          </a:p>
          <a:p>
            <a:pPr marL="305435" indent="-305435">
              <a:spcBef>
                <a:spcPct val="20000"/>
              </a:spcBef>
              <a:spcAft>
                <a:spcPts val="600"/>
              </a:spcAft>
              <a:buFont typeface="Arial"/>
              <a:buChar char="•"/>
            </a:pPr>
            <a:r>
              <a:rPr lang="en-IN" sz="1500" b="1">
                <a:latin typeface="Franklin Gothic Book"/>
              </a:rPr>
              <a:t>Algorithm Selection:</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DAX Measures &amp; Calculated Columns: Revenue = Quantity * UnitPrice (calculated column), Total Revenue = SUM(Revenue), Total Quantity = SUM(Quantity), Unique Customers = DISTINCTCOUNT(CustomerID).</a:t>
            </a:r>
          </a:p>
          <a:p>
            <a:pPr marL="305435" indent="-305435">
              <a:spcBef>
                <a:spcPct val="20000"/>
              </a:spcBef>
              <a:spcAft>
                <a:spcPts val="600"/>
              </a:spcAft>
              <a:buFont typeface="Arial"/>
              <a:buChar char="•"/>
            </a:pPr>
            <a:r>
              <a:rPr lang="en-IN" sz="1500" b="1">
                <a:latin typeface="Franklin Gothic Book"/>
              </a:rPr>
              <a:t>Data Input:</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Data Input: InvoiceNo, StockCode, Description, Quantity, InvoiceDate, UnitPrice, CustomerID, Country — 8 columns, 541,909 rows from UCI Machine Learning Repository.</a:t>
            </a:r>
          </a:p>
          <a:p>
            <a:pPr marL="305435" indent="-305435">
              <a:spcBef>
                <a:spcPct val="20000"/>
              </a:spcBef>
              <a:spcAft>
                <a:spcPts val="600"/>
              </a:spcAft>
              <a:buFont typeface="Arial"/>
              <a:buChar char="•"/>
            </a:pPr>
            <a:r>
              <a:rPr lang="en-IN" sz="1500" b="1">
                <a:latin typeface="Franklin Gothic Book"/>
              </a:rPr>
              <a:t>Training Process:</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Data Transformation: Removed 135,080 rows with null CustomerID, filtered negative Quantity (cancellations/returns), changed data types, extracted Month from InvoiceDate for trend analysis.</a:t>
            </a:r>
          </a:p>
          <a:p>
            <a:pPr marL="305435" indent="-305435">
              <a:spcBef>
                <a:spcPct val="20000"/>
              </a:spcBef>
              <a:spcAft>
                <a:spcPts val="600"/>
              </a:spcAft>
              <a:buFont typeface="Arial"/>
              <a:buChar char="•"/>
            </a:pPr>
            <a:r>
              <a:rPr lang="en-IN" sz="1500" b="1">
                <a:latin typeface="Franklin Gothic Book"/>
              </a:rPr>
              <a:t>Prediction Process:</a:t>
            </a:r>
            <a:endParaRPr lang="en-IN" sz="1500">
              <a:latin typeface="Franklin Gothic Book"/>
            </a:endParaRPr>
          </a:p>
          <a:p>
            <a:pPr marL="629920" lvl="1" indent="-305435">
              <a:spcBef>
                <a:spcPct val="20000"/>
              </a:spcBef>
              <a:spcAft>
                <a:spcPts val="600"/>
              </a:spcAft>
              <a:buFont typeface="Arial"/>
              <a:buChar char="•"/>
            </a:pPr>
            <a:r>
              <a:rPr lang="en-IN" sz="1500">
                <a:latin typeface="Franklin Gothic Book"/>
              </a:rPr>
              <a:t>Deployment: Saved as OnlineRetail_Analysis.pbix. Dashboard includes 3 KPI cards (Total Revenue, Total Units Sold, Unique Customers), Monthly Revenue line chart, Top 10 Countries bar chart, Top 10 Customers bar chart, and a world map visual.</a:t>
            </a:r>
            <a:endParaRPr lang="en-GB" sz="150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191488" y="1121782"/>
            <a:ext cx="10515600" cy="3807406"/>
          </a:xfrm>
        </p:spPr>
        <p:txBody>
          <a:bodyPr vert="horz" lIns="91440" tIns="45720" rIns="91440" bIns="45720" rtlCol="0">
            <a:normAutofit/>
          </a:bodyPr>
          <a:lstStyle/>
          <a:p>
            <a:pPr marL="0" indent="0">
              <a:buNone/>
            </a:pPr>
            <a:r>
              <a:rPr lang="en-IN" sz="1100" dirty="0">
                <a:latin typeface="Franklin Gothic Book"/>
              </a:rPr>
              <a:t>The Power BI dashboard revealed: Total Revenue = £7.92M, Total Units Sold = 5M, Unique Customers = 4,228 across Dec 2010 - Dec 2011. Revenue peaked in November 2011 (£1.1M) showing strong seasonal demand. United Kingdom dominates sales volume. Top customer (</a:t>
            </a:r>
            <a:r>
              <a:rPr lang="en-IN" sz="1100" dirty="0" err="1">
                <a:latin typeface="Franklin Gothic Book"/>
              </a:rPr>
              <a:t>CustomerID</a:t>
            </a:r>
            <a:r>
              <a:rPr lang="en-IN" sz="1100" dirty="0">
                <a:latin typeface="Franklin Gothic Book"/>
              </a:rPr>
              <a:t> 14646) generated £0.28M in revenue alone. Netherlands and EIRE are the top international markets. The world map confirms product demand is concentrated in Western Europe. The dashboard successfully transforms 541,909 raw transactions into 5 clear, interactive business insights enabling data-driven decisions.</a:t>
            </a:r>
            <a:endParaRPr lang="en-US" sz="1100" dirty="0"/>
          </a:p>
        </p:txBody>
      </p:sp>
      <p:pic>
        <p:nvPicPr>
          <p:cNvPr id="5" name="Picture 4">
            <a:extLst>
              <a:ext uri="{FF2B5EF4-FFF2-40B4-BE49-F238E27FC236}">
                <a16:creationId xmlns:a16="http://schemas.microsoft.com/office/drawing/2014/main" id="{69F4B8C9-10EA-F0F9-9191-2D03DC8C3F8C}"/>
              </a:ext>
            </a:extLst>
          </p:cNvPr>
          <p:cNvPicPr>
            <a:picLocks noChangeAspect="1"/>
          </p:cNvPicPr>
          <p:nvPr/>
        </p:nvPicPr>
        <p:blipFill>
          <a:blip r:embed="rId2"/>
          <a:stretch>
            <a:fillRect/>
          </a:stretch>
        </p:blipFill>
        <p:spPr>
          <a:xfrm>
            <a:off x="1869736" y="1928813"/>
            <a:ext cx="7522433" cy="4252822"/>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IN" sz="2200">
                <a:latin typeface="Franklin Gothic Book"/>
              </a:rPr>
              <a:t>The Online Retail Sales Analysis Power BI Dashboard successfully transformed 541,909 raw transactional records into a clean, interactive single-page report. Key findings: November 2011 is the peak revenue month (£1.1M) indicating strong pre-Christmas demand. The UK accounts for the majority of sales volume. Top 10 customers contribute disproportionately high revenue, indicating a loyal high-value customer segment. Netherlands and EIRE are the strongest international markets. Challenges included handling 24.93% missing CustomerID values and filtering cancellation records (negative quantities). The dashboard empowers management with instant visibility into revenue trends and customer behavior without manual Excel analysis.</a:t>
            </a:r>
            <a:endParaRPr lang="en-US" sz="2200"/>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pPr marL="0" indent="0">
              <a:spcBef>
                <a:spcPct val="20000"/>
              </a:spcBef>
              <a:spcAft>
                <a:spcPts val="600"/>
              </a:spcAft>
              <a:buNone/>
            </a:pPr>
            <a:r>
              <a:rPr lang="en-US" sz="1800" dirty="0">
                <a:latin typeface="Franklin Gothic Book"/>
              </a:rPr>
              <a:t>Future enhancements include: </a:t>
            </a:r>
          </a:p>
          <a:p>
            <a:pPr marL="342900" indent="-342900">
              <a:lnSpc>
                <a:spcPct val="100000"/>
              </a:lnSpc>
              <a:spcBef>
                <a:spcPct val="20000"/>
              </a:spcBef>
              <a:spcAft>
                <a:spcPts val="600"/>
              </a:spcAft>
              <a:buAutoNum type="arabicParenBoth"/>
            </a:pPr>
            <a:r>
              <a:rPr lang="en-US" sz="1800" dirty="0">
                <a:latin typeface="Franklin Gothic Book"/>
              </a:rPr>
              <a:t>Adding a second dashboard page for Product-level analysis — top selling </a:t>
            </a:r>
            <a:r>
              <a:rPr lang="en-US" sz="1800" dirty="0" err="1">
                <a:latin typeface="Franklin Gothic Book"/>
              </a:rPr>
              <a:t>StockCodes</a:t>
            </a:r>
            <a:r>
              <a:rPr lang="en-US" sz="1800" dirty="0">
                <a:latin typeface="Franklin Gothic Book"/>
              </a:rPr>
              <a:t>, revenue by product description, and return rate by product. </a:t>
            </a:r>
          </a:p>
          <a:p>
            <a:pPr marL="0" indent="0">
              <a:lnSpc>
                <a:spcPct val="100000"/>
              </a:lnSpc>
              <a:spcBef>
                <a:spcPct val="20000"/>
              </a:spcBef>
              <a:spcAft>
                <a:spcPts val="600"/>
              </a:spcAft>
              <a:buNone/>
            </a:pPr>
            <a:r>
              <a:rPr lang="en-US" sz="1800" dirty="0">
                <a:latin typeface="Franklin Gothic Book"/>
              </a:rPr>
              <a:t>(2) Building a Customer Segmentation page using RFM (Recency, Frequency, Monetary) analysis to classify          customers into High, Medium, and Low value tiers. </a:t>
            </a:r>
          </a:p>
          <a:p>
            <a:pPr marL="0" indent="0">
              <a:lnSpc>
                <a:spcPct val="100000"/>
              </a:lnSpc>
              <a:spcBef>
                <a:spcPct val="20000"/>
              </a:spcBef>
              <a:spcAft>
                <a:spcPts val="600"/>
              </a:spcAft>
              <a:buNone/>
            </a:pPr>
            <a:r>
              <a:rPr lang="en-US" sz="1800" dirty="0">
                <a:latin typeface="Franklin Gothic Book"/>
              </a:rPr>
              <a:t>(3) Integrating a cancellation analysis visual to track return rates by country and month. </a:t>
            </a:r>
          </a:p>
          <a:p>
            <a:pPr marL="0" indent="0">
              <a:lnSpc>
                <a:spcPct val="100000"/>
              </a:lnSpc>
              <a:spcBef>
                <a:spcPct val="20000"/>
              </a:spcBef>
              <a:spcAft>
                <a:spcPts val="600"/>
              </a:spcAft>
              <a:buNone/>
            </a:pPr>
            <a:r>
              <a:rPr lang="en-US" sz="1800" dirty="0">
                <a:latin typeface="Franklin Gothic Book"/>
              </a:rPr>
              <a:t>(4) Connecting to a live database via Power BI Dataflows for real-time sales monitoring. </a:t>
            </a:r>
          </a:p>
          <a:p>
            <a:pPr marL="0" indent="0">
              <a:lnSpc>
                <a:spcPct val="100000"/>
              </a:lnSpc>
              <a:spcBef>
                <a:spcPct val="20000"/>
              </a:spcBef>
              <a:spcAft>
                <a:spcPts val="600"/>
              </a:spcAft>
              <a:buNone/>
            </a:pPr>
            <a:r>
              <a:rPr lang="en-US" sz="1800" dirty="0">
                <a:latin typeface="Franklin Gothic Book"/>
              </a:rPr>
              <a:t>(5) Adding forecasting visuals using Power BI built-in Analytics pane to predict next 3 months revenue. </a:t>
            </a:r>
          </a:p>
          <a:p>
            <a:pPr marL="0" indent="0">
              <a:spcBef>
                <a:spcPct val="20000"/>
              </a:spcBef>
              <a:spcAft>
                <a:spcPts val="600"/>
              </a:spcAft>
              <a:buNone/>
            </a:pPr>
            <a:r>
              <a:rPr lang="en-US" sz="1800" dirty="0">
                <a:latin typeface="Franklin Gothic Book"/>
              </a:rPr>
              <a:t>(6) Deploying to Power BI Service for mobile access and scheduled daily data refresh.</a:t>
            </a:r>
            <a:endParaRPr lang="en-GB" sz="1800" dirty="0"/>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457200" indent="-457200">
              <a:buAutoNum type="arabicPeriod"/>
            </a:pPr>
            <a:r>
              <a:rPr lang="en-IN" sz="2200" dirty="0">
                <a:latin typeface="Franklin Gothic Book"/>
              </a:rPr>
              <a:t>UCI Machine Learning Repository - Online Retail Dataset by Dr. Daqing Chen (https://archive.ics.uci.edu/dataset/352/online+retail). </a:t>
            </a:r>
          </a:p>
          <a:p>
            <a:pPr marL="457200" indent="-457200">
              <a:buAutoNum type="arabicPeriod"/>
            </a:pPr>
            <a:r>
              <a:rPr lang="en-IN" sz="2200" dirty="0">
                <a:latin typeface="Franklin Gothic Book"/>
              </a:rPr>
              <a:t>Microsoft Power BI Documentation - docs.microsoft.com/</a:t>
            </a:r>
            <a:r>
              <a:rPr lang="en-IN" sz="2200" dirty="0" err="1">
                <a:latin typeface="Franklin Gothic Book"/>
              </a:rPr>
              <a:t>en</a:t>
            </a:r>
            <a:r>
              <a:rPr lang="en-IN" sz="2200" dirty="0">
                <a:latin typeface="Franklin Gothic Book"/>
              </a:rPr>
              <a:t>-us/power-bi. </a:t>
            </a:r>
          </a:p>
          <a:p>
            <a:pPr marL="457200" indent="-457200">
              <a:buAutoNum type="arabicPeriod"/>
            </a:pPr>
            <a:r>
              <a:rPr lang="en-IN" sz="2200" dirty="0">
                <a:latin typeface="Franklin Gothic Book"/>
              </a:rPr>
              <a:t>DAX Guide - </a:t>
            </a:r>
            <a:r>
              <a:rPr lang="en-IN" sz="2200" dirty="0" err="1">
                <a:latin typeface="Franklin Gothic Book"/>
              </a:rPr>
              <a:t>dax.guide</a:t>
            </a:r>
            <a:r>
              <a:rPr lang="en-IN" sz="2200" dirty="0">
                <a:latin typeface="Franklin Gothic Book"/>
              </a:rPr>
              <a:t>.</a:t>
            </a:r>
          </a:p>
          <a:p>
            <a:pPr marL="457200" indent="-457200">
              <a:buAutoNum type="arabicPeriod"/>
            </a:pPr>
            <a:r>
              <a:rPr lang="en-IN" sz="2200" dirty="0">
                <a:latin typeface="Franklin Gothic Book"/>
              </a:rPr>
              <a:t>Power Query M Language Reference - docs.microsoft.com/power-query. </a:t>
            </a:r>
          </a:p>
          <a:p>
            <a:pPr marL="457200" indent="-457200">
              <a:buAutoNum type="arabicPeriod"/>
            </a:pPr>
            <a:r>
              <a:rPr lang="en-IN" sz="2200" dirty="0">
                <a:latin typeface="Franklin Gothic Book"/>
              </a:rPr>
              <a:t>Microsoft Learn - Power BI Data Analyst (PL-300) certification course materials.</a:t>
            </a:r>
            <a:endParaRPr lang="en-US" sz="2200" dirty="0">
              <a:latin typeface="Aptos" panose="020B0004020202020204"/>
            </a:endParaRPr>
          </a:p>
          <a:p>
            <a:pPr marL="0" indent="0">
              <a:buNone/>
            </a:pPr>
            <a:r>
              <a:rPr lang="en-IN" sz="2200" dirty="0">
                <a:latin typeface="Franklin Gothic Book"/>
              </a:rPr>
              <a:t>GitHub Link:</a:t>
            </a:r>
            <a:r>
              <a:rPr lang="en-IN" sz="2200" dirty="0">
                <a:solidFill>
                  <a:srgbClr val="0070C0"/>
                </a:solidFill>
                <a:latin typeface="Franklin Gothic Book"/>
              </a:rPr>
              <a:t> </a:t>
            </a:r>
            <a:r>
              <a:rPr lang="en-IN" sz="2200" u="sng" dirty="0">
                <a:solidFill>
                  <a:srgbClr val="0070C0"/>
                </a:solidFill>
                <a:latin typeface="Franklin Gothic Book"/>
              </a:rPr>
              <a:t>https://github.com/Prathmeshkangane/Online-Retail-Analysis.git</a:t>
            </a: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1275</Words>
  <Application>Microsoft Office PowerPoint</Application>
  <PresentationFormat>Widescreen</PresentationFormat>
  <Paragraphs>72</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Prathmesh Kangane</cp:lastModifiedBy>
  <cp:revision>109</cp:revision>
  <dcterms:created xsi:type="dcterms:W3CDTF">2024-05-21T11:55:07Z</dcterms:created>
  <dcterms:modified xsi:type="dcterms:W3CDTF">2026-03-15T09:48:42Z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